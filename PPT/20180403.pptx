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3"/>
    <p:sldId id="257" r:id="rId5"/>
    <p:sldId id="258" r:id="rId6"/>
    <p:sldId id="259" r:id="rId7"/>
    <p:sldId id="282" r:id="rId8"/>
    <p:sldId id="283" r:id="rId9"/>
    <p:sldId id="269" r:id="rId10"/>
    <p:sldId id="265" r:id="rId11"/>
    <p:sldId id="280" r:id="rId12"/>
    <p:sldId id="262" r:id="rId13"/>
    <p:sldId id="264" r:id="rId14"/>
    <p:sldId id="284" r:id="rId15"/>
    <p:sldId id="268" r:id="rId16"/>
    <p:sldId id="270" r:id="rId17"/>
    <p:sldId id="287" r:id="rId18"/>
    <p:sldId id="273" r:id="rId19"/>
    <p:sldId id="261" r:id="rId20"/>
    <p:sldId id="27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6" d="100"/>
          <a:sy n="96" d="100"/>
        </p:scale>
        <p:origin x="679" y="82"/>
      </p:cViewPr>
      <p:guideLst>
        <p:guide orient="horz" pos="2160"/>
        <p:guide pos="3840"/>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B77AFB-DBB0-4C3A-8253-EF810359197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C13D75-0971-46E2-972F-876BF1F0223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1189738"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p>
            <a:endParaRPr lang="zh-CN" altLang="en-US"/>
          </a:p>
        </p:txBody>
      </p:sp>
      <p:sp>
        <p:nvSpPr>
          <p:cNvPr id="14" name="图片占位符 13"/>
          <p:cNvSpPr>
            <a:spLocks noGrp="1"/>
          </p:cNvSpPr>
          <p:nvPr>
            <p:ph type="pic" sz="quarter" idx="11"/>
          </p:nvPr>
        </p:nvSpPr>
        <p:spPr>
          <a:xfrm>
            <a:off x="3875775"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p>
            <a:endParaRPr lang="zh-CN" altLang="en-US"/>
          </a:p>
        </p:txBody>
      </p:sp>
      <p:sp>
        <p:nvSpPr>
          <p:cNvPr id="15" name="图片占位符 14"/>
          <p:cNvSpPr>
            <a:spLocks noGrp="1"/>
          </p:cNvSpPr>
          <p:nvPr>
            <p:ph type="pic" sz="quarter" idx="12"/>
          </p:nvPr>
        </p:nvSpPr>
        <p:spPr>
          <a:xfrm>
            <a:off x="6561812"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p>
            <a:endParaRPr lang="zh-CN" altLang="en-US"/>
          </a:p>
        </p:txBody>
      </p:sp>
      <p:sp>
        <p:nvSpPr>
          <p:cNvPr id="16" name="图片占位符 15"/>
          <p:cNvSpPr>
            <a:spLocks noGrp="1"/>
          </p:cNvSpPr>
          <p:nvPr>
            <p:ph type="pic" sz="quarter" idx="13"/>
          </p:nvPr>
        </p:nvSpPr>
        <p:spPr>
          <a:xfrm>
            <a:off x="9247849"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1117600" y="4209143"/>
            <a:ext cx="5181600" cy="2046514"/>
          </a:xfrm>
          <a:custGeom>
            <a:avLst/>
            <a:gdLst>
              <a:gd name="connsiteX0" fmla="*/ 0 w 5181600"/>
              <a:gd name="connsiteY0" fmla="*/ 0 h 2046514"/>
              <a:gd name="connsiteX1" fmla="*/ 5181600 w 5181600"/>
              <a:gd name="connsiteY1" fmla="*/ 0 h 2046514"/>
              <a:gd name="connsiteX2" fmla="*/ 5181600 w 5181600"/>
              <a:gd name="connsiteY2" fmla="*/ 2046514 h 2046514"/>
              <a:gd name="connsiteX3" fmla="*/ 0 w 5181600"/>
              <a:gd name="connsiteY3" fmla="*/ 2046514 h 2046514"/>
            </a:gdLst>
            <a:ahLst/>
            <a:cxnLst>
              <a:cxn ang="0">
                <a:pos x="connsiteX0" y="connsiteY0"/>
              </a:cxn>
              <a:cxn ang="0">
                <a:pos x="connsiteX1" y="connsiteY1"/>
              </a:cxn>
              <a:cxn ang="0">
                <a:pos x="connsiteX2" y="connsiteY2"/>
              </a:cxn>
              <a:cxn ang="0">
                <a:pos x="connsiteX3" y="connsiteY3"/>
              </a:cxn>
            </a:cxnLst>
            <a:rect l="l" t="t" r="r" b="b"/>
            <a:pathLst>
              <a:path w="5181600" h="2046514">
                <a:moveTo>
                  <a:pt x="0" y="0"/>
                </a:moveTo>
                <a:lnTo>
                  <a:pt x="5181600" y="0"/>
                </a:lnTo>
                <a:lnTo>
                  <a:pt x="5181600" y="2046514"/>
                </a:lnTo>
                <a:lnTo>
                  <a:pt x="0" y="2046514"/>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6498078" y="1681843"/>
            <a:ext cx="4576322" cy="4573814"/>
          </a:xfrm>
          <a:custGeom>
            <a:avLst/>
            <a:gdLst>
              <a:gd name="connsiteX0" fmla="*/ 0 w 4576322"/>
              <a:gd name="connsiteY0" fmla="*/ 0 h 4573814"/>
              <a:gd name="connsiteX1" fmla="*/ 4576322 w 4576322"/>
              <a:gd name="connsiteY1" fmla="*/ 0 h 4573814"/>
              <a:gd name="connsiteX2" fmla="*/ 4576322 w 4576322"/>
              <a:gd name="connsiteY2" fmla="*/ 4573814 h 4573814"/>
              <a:gd name="connsiteX3" fmla="*/ 0 w 4576322"/>
              <a:gd name="connsiteY3" fmla="*/ 4573814 h 4573814"/>
            </a:gdLst>
            <a:ahLst/>
            <a:cxnLst>
              <a:cxn ang="0">
                <a:pos x="connsiteX0" y="connsiteY0"/>
              </a:cxn>
              <a:cxn ang="0">
                <a:pos x="connsiteX1" y="connsiteY1"/>
              </a:cxn>
              <a:cxn ang="0">
                <a:pos x="connsiteX2" y="connsiteY2"/>
              </a:cxn>
              <a:cxn ang="0">
                <a:pos x="connsiteX3" y="connsiteY3"/>
              </a:cxn>
            </a:cxnLst>
            <a:rect l="l" t="t" r="r" b="b"/>
            <a:pathLst>
              <a:path w="4576322" h="4573814">
                <a:moveTo>
                  <a:pt x="0" y="0"/>
                </a:moveTo>
                <a:lnTo>
                  <a:pt x="4576322" y="0"/>
                </a:lnTo>
                <a:lnTo>
                  <a:pt x="4576322" y="4573814"/>
                </a:lnTo>
                <a:lnTo>
                  <a:pt x="0" y="4573814"/>
                </a:lnTo>
                <a:close/>
              </a:path>
            </a:pathLst>
          </a:custGeom>
        </p:spPr>
        <p:txBody>
          <a:bodyPr wrap="square">
            <a:no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911559" y="3207658"/>
            <a:ext cx="4998597" cy="2801259"/>
          </a:xfrm>
          <a:custGeom>
            <a:avLst/>
            <a:gdLst>
              <a:gd name="connsiteX0" fmla="*/ 0 w 4998597"/>
              <a:gd name="connsiteY0" fmla="*/ 0 h 2801259"/>
              <a:gd name="connsiteX1" fmla="*/ 4998597 w 4998597"/>
              <a:gd name="connsiteY1" fmla="*/ 0 h 2801259"/>
              <a:gd name="connsiteX2" fmla="*/ 4998597 w 4998597"/>
              <a:gd name="connsiteY2" fmla="*/ 2801259 h 2801259"/>
              <a:gd name="connsiteX3" fmla="*/ 0 w 4998597"/>
              <a:gd name="connsiteY3" fmla="*/ 2801259 h 2801259"/>
            </a:gdLst>
            <a:ahLst/>
            <a:cxnLst>
              <a:cxn ang="0">
                <a:pos x="connsiteX0" y="connsiteY0"/>
              </a:cxn>
              <a:cxn ang="0">
                <a:pos x="connsiteX1" y="connsiteY1"/>
              </a:cxn>
              <a:cxn ang="0">
                <a:pos x="connsiteX2" y="connsiteY2"/>
              </a:cxn>
              <a:cxn ang="0">
                <a:pos x="connsiteX3" y="connsiteY3"/>
              </a:cxn>
            </a:cxnLst>
            <a:rect l="l" t="t" r="r" b="b"/>
            <a:pathLst>
              <a:path w="4998597" h="2801259">
                <a:moveTo>
                  <a:pt x="0" y="0"/>
                </a:moveTo>
                <a:lnTo>
                  <a:pt x="4998597" y="0"/>
                </a:lnTo>
                <a:lnTo>
                  <a:pt x="4998597" y="2801259"/>
                </a:lnTo>
                <a:lnTo>
                  <a:pt x="0" y="2801259"/>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6281845" y="3207658"/>
            <a:ext cx="4998597" cy="2801259"/>
          </a:xfrm>
          <a:custGeom>
            <a:avLst/>
            <a:gdLst>
              <a:gd name="connsiteX0" fmla="*/ 0 w 4998597"/>
              <a:gd name="connsiteY0" fmla="*/ 0 h 2801259"/>
              <a:gd name="connsiteX1" fmla="*/ 4998597 w 4998597"/>
              <a:gd name="connsiteY1" fmla="*/ 0 h 2801259"/>
              <a:gd name="connsiteX2" fmla="*/ 4998597 w 4998597"/>
              <a:gd name="connsiteY2" fmla="*/ 2801259 h 2801259"/>
              <a:gd name="connsiteX3" fmla="*/ 0 w 4998597"/>
              <a:gd name="connsiteY3" fmla="*/ 2801259 h 2801259"/>
            </a:gdLst>
            <a:ahLst/>
            <a:cxnLst>
              <a:cxn ang="0">
                <a:pos x="connsiteX0" y="connsiteY0"/>
              </a:cxn>
              <a:cxn ang="0">
                <a:pos x="connsiteX1" y="connsiteY1"/>
              </a:cxn>
              <a:cxn ang="0">
                <a:pos x="connsiteX2" y="connsiteY2"/>
              </a:cxn>
              <a:cxn ang="0">
                <a:pos x="connsiteX3" y="connsiteY3"/>
              </a:cxn>
            </a:cxnLst>
            <a:rect l="l" t="t" r="r" b="b"/>
            <a:pathLst>
              <a:path w="4998597" h="2801259">
                <a:moveTo>
                  <a:pt x="0" y="0"/>
                </a:moveTo>
                <a:lnTo>
                  <a:pt x="4998597" y="0"/>
                </a:lnTo>
                <a:lnTo>
                  <a:pt x="4998597" y="2801259"/>
                </a:lnTo>
                <a:lnTo>
                  <a:pt x="0" y="2801259"/>
                </a:lnTo>
                <a:close/>
              </a:path>
            </a:pathLst>
          </a:custGeom>
        </p:spPr>
        <p:txBody>
          <a:bodyPr wrap="square">
            <a:noAutofit/>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193800" y="1866900"/>
            <a:ext cx="4728722" cy="1905000"/>
          </a:xfrm>
          <a:custGeom>
            <a:avLst/>
            <a:gdLst>
              <a:gd name="connsiteX0" fmla="*/ 0 w 4728722"/>
              <a:gd name="connsiteY0" fmla="*/ 0 h 1905000"/>
              <a:gd name="connsiteX1" fmla="*/ 4728722 w 4728722"/>
              <a:gd name="connsiteY1" fmla="*/ 0 h 1905000"/>
              <a:gd name="connsiteX2" fmla="*/ 4728722 w 4728722"/>
              <a:gd name="connsiteY2" fmla="*/ 1905000 h 1905000"/>
              <a:gd name="connsiteX3" fmla="*/ 0 w 4728722"/>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4728722" h="1905000">
                <a:moveTo>
                  <a:pt x="0" y="0"/>
                </a:moveTo>
                <a:lnTo>
                  <a:pt x="4728722" y="0"/>
                </a:lnTo>
                <a:lnTo>
                  <a:pt x="4728722" y="1905000"/>
                </a:lnTo>
                <a:lnTo>
                  <a:pt x="0" y="1905000"/>
                </a:ln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6273800" y="1866900"/>
            <a:ext cx="4728722" cy="1905000"/>
          </a:xfrm>
          <a:custGeom>
            <a:avLst/>
            <a:gdLst>
              <a:gd name="connsiteX0" fmla="*/ 0 w 4728722"/>
              <a:gd name="connsiteY0" fmla="*/ 0 h 1905000"/>
              <a:gd name="connsiteX1" fmla="*/ 4728722 w 4728722"/>
              <a:gd name="connsiteY1" fmla="*/ 0 h 1905000"/>
              <a:gd name="connsiteX2" fmla="*/ 4728722 w 4728722"/>
              <a:gd name="connsiteY2" fmla="*/ 1905000 h 1905000"/>
              <a:gd name="connsiteX3" fmla="*/ 0 w 4728722"/>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4728722" h="1905000">
                <a:moveTo>
                  <a:pt x="0" y="0"/>
                </a:moveTo>
                <a:lnTo>
                  <a:pt x="4728722" y="0"/>
                </a:lnTo>
                <a:lnTo>
                  <a:pt x="4728722" y="1905000"/>
                </a:lnTo>
                <a:lnTo>
                  <a:pt x="0" y="190500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1193800" y="4102100"/>
            <a:ext cx="4728722" cy="1905000"/>
          </a:xfrm>
          <a:custGeom>
            <a:avLst/>
            <a:gdLst>
              <a:gd name="connsiteX0" fmla="*/ 0 w 4728722"/>
              <a:gd name="connsiteY0" fmla="*/ 0 h 1905000"/>
              <a:gd name="connsiteX1" fmla="*/ 4728722 w 4728722"/>
              <a:gd name="connsiteY1" fmla="*/ 0 h 1905000"/>
              <a:gd name="connsiteX2" fmla="*/ 4728722 w 4728722"/>
              <a:gd name="connsiteY2" fmla="*/ 1905000 h 1905000"/>
              <a:gd name="connsiteX3" fmla="*/ 0 w 4728722"/>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4728722" h="1905000">
                <a:moveTo>
                  <a:pt x="0" y="0"/>
                </a:moveTo>
                <a:lnTo>
                  <a:pt x="4728722" y="0"/>
                </a:lnTo>
                <a:lnTo>
                  <a:pt x="4728722" y="1905000"/>
                </a:lnTo>
                <a:lnTo>
                  <a:pt x="0" y="1905000"/>
                </a:lnTo>
                <a:close/>
              </a:path>
            </a:pathLst>
          </a:custGeom>
        </p:spPr>
        <p:txBody>
          <a:bodyPr wrap="square">
            <a:noAutofit/>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1709548" y="20047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p>
            <a:endParaRPr lang="zh-CN" altLang="en-US"/>
          </a:p>
        </p:txBody>
      </p:sp>
      <p:sp>
        <p:nvSpPr>
          <p:cNvPr id="13" name="图片占位符 12"/>
          <p:cNvSpPr>
            <a:spLocks noGrp="1"/>
          </p:cNvSpPr>
          <p:nvPr>
            <p:ph type="pic" sz="quarter" idx="11"/>
          </p:nvPr>
        </p:nvSpPr>
        <p:spPr>
          <a:xfrm>
            <a:off x="4103813" y="27413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6498078" y="20047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8892343" y="27413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332690" y="1746250"/>
            <a:ext cx="2709422" cy="3524250"/>
          </a:xfrm>
          <a:custGeom>
            <a:avLst/>
            <a:gdLst>
              <a:gd name="connsiteX0" fmla="*/ 0 w 2709422"/>
              <a:gd name="connsiteY0" fmla="*/ 0 h 3524250"/>
              <a:gd name="connsiteX1" fmla="*/ 2709422 w 2709422"/>
              <a:gd name="connsiteY1" fmla="*/ 0 h 3524250"/>
              <a:gd name="connsiteX2" fmla="*/ 2709422 w 2709422"/>
              <a:gd name="connsiteY2" fmla="*/ 3524250 h 3524250"/>
              <a:gd name="connsiteX3" fmla="*/ 0 w 2709422"/>
              <a:gd name="connsiteY3" fmla="*/ 3524250 h 3524250"/>
            </a:gdLst>
            <a:ahLst/>
            <a:cxnLst>
              <a:cxn ang="0">
                <a:pos x="connsiteX0" y="connsiteY0"/>
              </a:cxn>
              <a:cxn ang="0">
                <a:pos x="connsiteX1" y="connsiteY1"/>
              </a:cxn>
              <a:cxn ang="0">
                <a:pos x="connsiteX2" y="connsiteY2"/>
              </a:cxn>
              <a:cxn ang="0">
                <a:pos x="connsiteX3" y="connsiteY3"/>
              </a:cxn>
            </a:cxnLst>
            <a:rect l="l" t="t" r="r" b="b"/>
            <a:pathLst>
              <a:path w="2709422" h="3524250">
                <a:moveTo>
                  <a:pt x="0" y="0"/>
                </a:moveTo>
                <a:lnTo>
                  <a:pt x="2709422" y="0"/>
                </a:lnTo>
                <a:lnTo>
                  <a:pt x="2709422" y="3524250"/>
                </a:lnTo>
                <a:lnTo>
                  <a:pt x="0" y="3524250"/>
                </a:ln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746829" y="1746250"/>
            <a:ext cx="2709422" cy="3524250"/>
          </a:xfrm>
          <a:custGeom>
            <a:avLst/>
            <a:gdLst>
              <a:gd name="connsiteX0" fmla="*/ 0 w 2709422"/>
              <a:gd name="connsiteY0" fmla="*/ 0 h 3524250"/>
              <a:gd name="connsiteX1" fmla="*/ 2709422 w 2709422"/>
              <a:gd name="connsiteY1" fmla="*/ 0 h 3524250"/>
              <a:gd name="connsiteX2" fmla="*/ 2709422 w 2709422"/>
              <a:gd name="connsiteY2" fmla="*/ 3524250 h 3524250"/>
              <a:gd name="connsiteX3" fmla="*/ 0 w 2709422"/>
              <a:gd name="connsiteY3" fmla="*/ 3524250 h 3524250"/>
            </a:gdLst>
            <a:ahLst/>
            <a:cxnLst>
              <a:cxn ang="0">
                <a:pos x="connsiteX0" y="connsiteY0"/>
              </a:cxn>
              <a:cxn ang="0">
                <a:pos x="connsiteX1" y="connsiteY1"/>
              </a:cxn>
              <a:cxn ang="0">
                <a:pos x="connsiteX2" y="connsiteY2"/>
              </a:cxn>
              <a:cxn ang="0">
                <a:pos x="connsiteX3" y="connsiteY3"/>
              </a:cxn>
            </a:cxnLst>
            <a:rect l="l" t="t" r="r" b="b"/>
            <a:pathLst>
              <a:path w="2709422" h="3524250">
                <a:moveTo>
                  <a:pt x="0" y="0"/>
                </a:moveTo>
                <a:lnTo>
                  <a:pt x="2709422" y="0"/>
                </a:lnTo>
                <a:lnTo>
                  <a:pt x="2709422" y="3524250"/>
                </a:lnTo>
                <a:lnTo>
                  <a:pt x="0" y="352425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160968" y="1746250"/>
            <a:ext cx="2709422" cy="3524250"/>
          </a:xfrm>
          <a:custGeom>
            <a:avLst/>
            <a:gdLst>
              <a:gd name="connsiteX0" fmla="*/ 0 w 2709422"/>
              <a:gd name="connsiteY0" fmla="*/ 0 h 3524250"/>
              <a:gd name="connsiteX1" fmla="*/ 2709422 w 2709422"/>
              <a:gd name="connsiteY1" fmla="*/ 0 h 3524250"/>
              <a:gd name="connsiteX2" fmla="*/ 2709422 w 2709422"/>
              <a:gd name="connsiteY2" fmla="*/ 3524250 h 3524250"/>
              <a:gd name="connsiteX3" fmla="*/ 0 w 2709422"/>
              <a:gd name="connsiteY3" fmla="*/ 3524250 h 3524250"/>
            </a:gdLst>
            <a:ahLst/>
            <a:cxnLst>
              <a:cxn ang="0">
                <a:pos x="connsiteX0" y="connsiteY0"/>
              </a:cxn>
              <a:cxn ang="0">
                <a:pos x="connsiteX1" y="connsiteY1"/>
              </a:cxn>
              <a:cxn ang="0">
                <a:pos x="connsiteX2" y="connsiteY2"/>
              </a:cxn>
              <a:cxn ang="0">
                <a:pos x="connsiteX3" y="connsiteY3"/>
              </a:cxn>
            </a:cxnLst>
            <a:rect l="l" t="t" r="r" b="b"/>
            <a:pathLst>
              <a:path w="2709422" h="3524250">
                <a:moveTo>
                  <a:pt x="0" y="0"/>
                </a:moveTo>
                <a:lnTo>
                  <a:pt x="2709422" y="0"/>
                </a:lnTo>
                <a:lnTo>
                  <a:pt x="2709422" y="3524250"/>
                </a:lnTo>
                <a:lnTo>
                  <a:pt x="0" y="3524250"/>
                </a:ln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539401" y="1955802"/>
            <a:ext cx="9128598" cy="3035300"/>
          </a:xfrm>
          <a:custGeom>
            <a:avLst/>
            <a:gdLst>
              <a:gd name="connsiteX0" fmla="*/ 4647286 w 9128598"/>
              <a:gd name="connsiteY0" fmla="*/ 666285 h 3035300"/>
              <a:gd name="connsiteX1" fmla="*/ 6804955 w 9128598"/>
              <a:gd name="connsiteY1" fmla="*/ 666285 h 3035300"/>
              <a:gd name="connsiteX2" fmla="*/ 6804955 w 9128598"/>
              <a:gd name="connsiteY2" fmla="*/ 3035300 h 3035300"/>
              <a:gd name="connsiteX3" fmla="*/ 4647286 w 9128598"/>
              <a:gd name="connsiteY3" fmla="*/ 3035300 h 3035300"/>
              <a:gd name="connsiteX4" fmla="*/ 6970929 w 9128598"/>
              <a:gd name="connsiteY4" fmla="*/ 0 h 3035300"/>
              <a:gd name="connsiteX5" fmla="*/ 9128598 w 9128598"/>
              <a:gd name="connsiteY5" fmla="*/ 0 h 3035300"/>
              <a:gd name="connsiteX6" fmla="*/ 9128598 w 9128598"/>
              <a:gd name="connsiteY6" fmla="*/ 3035300 h 3035300"/>
              <a:gd name="connsiteX7" fmla="*/ 6970929 w 9128598"/>
              <a:gd name="connsiteY7" fmla="*/ 3035300 h 3035300"/>
              <a:gd name="connsiteX8" fmla="*/ 2323643 w 9128598"/>
              <a:gd name="connsiteY8" fmla="*/ 0 h 3035300"/>
              <a:gd name="connsiteX9" fmla="*/ 4481312 w 9128598"/>
              <a:gd name="connsiteY9" fmla="*/ 0 h 3035300"/>
              <a:gd name="connsiteX10" fmla="*/ 4481312 w 9128598"/>
              <a:gd name="connsiteY10" fmla="*/ 2421894 h 3035300"/>
              <a:gd name="connsiteX11" fmla="*/ 2323643 w 9128598"/>
              <a:gd name="connsiteY11" fmla="*/ 2421894 h 3035300"/>
              <a:gd name="connsiteX12" fmla="*/ 0 w 9128598"/>
              <a:gd name="connsiteY12" fmla="*/ 0 h 3035300"/>
              <a:gd name="connsiteX13" fmla="*/ 2157669 w 9128598"/>
              <a:gd name="connsiteY13" fmla="*/ 0 h 3035300"/>
              <a:gd name="connsiteX14" fmla="*/ 2157669 w 9128598"/>
              <a:gd name="connsiteY14" fmla="*/ 3035300 h 3035300"/>
              <a:gd name="connsiteX15" fmla="*/ 0 w 9128598"/>
              <a:gd name="connsiteY15" fmla="*/ 3035300 h 303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28598" h="3035300">
                <a:moveTo>
                  <a:pt x="4647286" y="666285"/>
                </a:moveTo>
                <a:lnTo>
                  <a:pt x="6804955" y="666285"/>
                </a:lnTo>
                <a:lnTo>
                  <a:pt x="6804955" y="3035300"/>
                </a:lnTo>
                <a:lnTo>
                  <a:pt x="4647286" y="3035300"/>
                </a:lnTo>
                <a:close/>
                <a:moveTo>
                  <a:pt x="6970929" y="0"/>
                </a:moveTo>
                <a:lnTo>
                  <a:pt x="9128598" y="0"/>
                </a:lnTo>
                <a:lnTo>
                  <a:pt x="9128598" y="3035300"/>
                </a:lnTo>
                <a:lnTo>
                  <a:pt x="6970929" y="3035300"/>
                </a:lnTo>
                <a:close/>
                <a:moveTo>
                  <a:pt x="2323643" y="0"/>
                </a:moveTo>
                <a:lnTo>
                  <a:pt x="4481312" y="0"/>
                </a:lnTo>
                <a:lnTo>
                  <a:pt x="4481312" y="2421894"/>
                </a:lnTo>
                <a:lnTo>
                  <a:pt x="2323643" y="2421894"/>
                </a:lnTo>
                <a:close/>
                <a:moveTo>
                  <a:pt x="0" y="0"/>
                </a:moveTo>
                <a:lnTo>
                  <a:pt x="2157669" y="0"/>
                </a:lnTo>
                <a:lnTo>
                  <a:pt x="2157669" y="3035300"/>
                </a:lnTo>
                <a:lnTo>
                  <a:pt x="0" y="3035300"/>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95326" y="2032000"/>
            <a:ext cx="5802753" cy="3873500"/>
          </a:xfrm>
          <a:custGeom>
            <a:avLst/>
            <a:gdLst>
              <a:gd name="connsiteX0" fmla="*/ 0 w 5802753"/>
              <a:gd name="connsiteY0" fmla="*/ 0 h 3873500"/>
              <a:gd name="connsiteX1" fmla="*/ 5802753 w 5802753"/>
              <a:gd name="connsiteY1" fmla="*/ 0 h 3873500"/>
              <a:gd name="connsiteX2" fmla="*/ 5802753 w 5802753"/>
              <a:gd name="connsiteY2" fmla="*/ 3873500 h 3873500"/>
              <a:gd name="connsiteX3" fmla="*/ 0 w 5802753"/>
              <a:gd name="connsiteY3" fmla="*/ 3873500 h 3873500"/>
            </a:gdLst>
            <a:ahLst/>
            <a:cxnLst>
              <a:cxn ang="0">
                <a:pos x="connsiteX0" y="connsiteY0"/>
              </a:cxn>
              <a:cxn ang="0">
                <a:pos x="connsiteX1" y="connsiteY1"/>
              </a:cxn>
              <a:cxn ang="0">
                <a:pos x="connsiteX2" y="connsiteY2"/>
              </a:cxn>
              <a:cxn ang="0">
                <a:pos x="connsiteX3" y="connsiteY3"/>
              </a:cxn>
            </a:cxnLst>
            <a:rect l="l" t="t" r="r" b="b"/>
            <a:pathLst>
              <a:path w="5802753" h="3873500">
                <a:moveTo>
                  <a:pt x="0" y="0"/>
                </a:moveTo>
                <a:lnTo>
                  <a:pt x="5802753" y="0"/>
                </a:lnTo>
                <a:lnTo>
                  <a:pt x="5802753" y="3873500"/>
                </a:lnTo>
                <a:lnTo>
                  <a:pt x="0" y="3873500"/>
                </a:lnTo>
                <a:close/>
              </a:path>
            </a:pathLst>
          </a:custGeom>
        </p:spPr>
        <p:txBody>
          <a:bodyPr wrap="square">
            <a:noAutofit/>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137558" y="2154903"/>
            <a:ext cx="2689324" cy="1749270"/>
          </a:xfrm>
          <a:custGeom>
            <a:avLst/>
            <a:gdLst>
              <a:gd name="connsiteX0" fmla="*/ 0 w 2689324"/>
              <a:gd name="connsiteY0" fmla="*/ 0 h 1749270"/>
              <a:gd name="connsiteX1" fmla="*/ 2689324 w 2689324"/>
              <a:gd name="connsiteY1" fmla="*/ 0 h 1749270"/>
              <a:gd name="connsiteX2" fmla="*/ 2689324 w 2689324"/>
              <a:gd name="connsiteY2" fmla="*/ 1749270 h 1749270"/>
              <a:gd name="connsiteX3" fmla="*/ 0 w 2689324"/>
              <a:gd name="connsiteY3" fmla="*/ 1749270 h 1749270"/>
            </a:gdLst>
            <a:ahLst/>
            <a:cxnLst>
              <a:cxn ang="0">
                <a:pos x="connsiteX0" y="connsiteY0"/>
              </a:cxn>
              <a:cxn ang="0">
                <a:pos x="connsiteX1" y="connsiteY1"/>
              </a:cxn>
              <a:cxn ang="0">
                <a:pos x="connsiteX2" y="connsiteY2"/>
              </a:cxn>
              <a:cxn ang="0">
                <a:pos x="connsiteX3" y="connsiteY3"/>
              </a:cxn>
            </a:cxnLst>
            <a:rect l="l" t="t" r="r" b="b"/>
            <a:pathLst>
              <a:path w="2689324" h="1749270">
                <a:moveTo>
                  <a:pt x="0" y="0"/>
                </a:moveTo>
                <a:lnTo>
                  <a:pt x="2689324" y="0"/>
                </a:lnTo>
                <a:lnTo>
                  <a:pt x="2689324" y="1749270"/>
                </a:lnTo>
                <a:lnTo>
                  <a:pt x="0" y="1749270"/>
                </a:ln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751337" y="2154903"/>
            <a:ext cx="2689324" cy="1749270"/>
          </a:xfrm>
          <a:custGeom>
            <a:avLst/>
            <a:gdLst>
              <a:gd name="connsiteX0" fmla="*/ 0 w 2689324"/>
              <a:gd name="connsiteY0" fmla="*/ 0 h 1749270"/>
              <a:gd name="connsiteX1" fmla="*/ 2689324 w 2689324"/>
              <a:gd name="connsiteY1" fmla="*/ 0 h 1749270"/>
              <a:gd name="connsiteX2" fmla="*/ 2689324 w 2689324"/>
              <a:gd name="connsiteY2" fmla="*/ 1749270 h 1749270"/>
              <a:gd name="connsiteX3" fmla="*/ 0 w 2689324"/>
              <a:gd name="connsiteY3" fmla="*/ 1749270 h 1749270"/>
            </a:gdLst>
            <a:ahLst/>
            <a:cxnLst>
              <a:cxn ang="0">
                <a:pos x="connsiteX0" y="connsiteY0"/>
              </a:cxn>
              <a:cxn ang="0">
                <a:pos x="connsiteX1" y="connsiteY1"/>
              </a:cxn>
              <a:cxn ang="0">
                <a:pos x="connsiteX2" y="connsiteY2"/>
              </a:cxn>
              <a:cxn ang="0">
                <a:pos x="connsiteX3" y="connsiteY3"/>
              </a:cxn>
            </a:cxnLst>
            <a:rect l="l" t="t" r="r" b="b"/>
            <a:pathLst>
              <a:path w="2689324" h="1749270">
                <a:moveTo>
                  <a:pt x="0" y="0"/>
                </a:moveTo>
                <a:lnTo>
                  <a:pt x="2689324" y="0"/>
                </a:lnTo>
                <a:lnTo>
                  <a:pt x="2689324" y="1749270"/>
                </a:lnTo>
                <a:lnTo>
                  <a:pt x="0" y="1749270"/>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365117" y="2154903"/>
            <a:ext cx="2689324" cy="1749270"/>
          </a:xfrm>
          <a:custGeom>
            <a:avLst/>
            <a:gdLst>
              <a:gd name="connsiteX0" fmla="*/ 0 w 2689324"/>
              <a:gd name="connsiteY0" fmla="*/ 0 h 1749270"/>
              <a:gd name="connsiteX1" fmla="*/ 2689324 w 2689324"/>
              <a:gd name="connsiteY1" fmla="*/ 0 h 1749270"/>
              <a:gd name="connsiteX2" fmla="*/ 2689324 w 2689324"/>
              <a:gd name="connsiteY2" fmla="*/ 1749270 h 1749270"/>
              <a:gd name="connsiteX3" fmla="*/ 0 w 2689324"/>
              <a:gd name="connsiteY3" fmla="*/ 1749270 h 1749270"/>
            </a:gdLst>
            <a:ahLst/>
            <a:cxnLst>
              <a:cxn ang="0">
                <a:pos x="connsiteX0" y="connsiteY0"/>
              </a:cxn>
              <a:cxn ang="0">
                <a:pos x="connsiteX1" y="connsiteY1"/>
              </a:cxn>
              <a:cxn ang="0">
                <a:pos x="connsiteX2" y="connsiteY2"/>
              </a:cxn>
              <a:cxn ang="0">
                <a:pos x="connsiteX3" y="connsiteY3"/>
              </a:cxn>
            </a:cxnLst>
            <a:rect l="l" t="t" r="r" b="b"/>
            <a:pathLst>
              <a:path w="2689324" h="1749270">
                <a:moveTo>
                  <a:pt x="0" y="0"/>
                </a:moveTo>
                <a:lnTo>
                  <a:pt x="2689324" y="0"/>
                </a:lnTo>
                <a:lnTo>
                  <a:pt x="2689324" y="1749270"/>
                </a:lnTo>
                <a:lnTo>
                  <a:pt x="0" y="1749270"/>
                </a:lnTo>
                <a:close/>
              </a:path>
            </a:pathLst>
          </a:custGeom>
        </p:spPr>
        <p:txBody>
          <a:bodyPr wrap="square">
            <a:noAutofit/>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95325" y="647700"/>
            <a:ext cx="4048125" cy="5505450"/>
          </a:xfrm>
          <a:custGeom>
            <a:avLst/>
            <a:gdLst>
              <a:gd name="connsiteX0" fmla="*/ 0 w 4048125"/>
              <a:gd name="connsiteY0" fmla="*/ 0 h 5505450"/>
              <a:gd name="connsiteX1" fmla="*/ 4048125 w 4048125"/>
              <a:gd name="connsiteY1" fmla="*/ 0 h 5505450"/>
              <a:gd name="connsiteX2" fmla="*/ 4048125 w 4048125"/>
              <a:gd name="connsiteY2" fmla="*/ 5505450 h 5505450"/>
              <a:gd name="connsiteX3" fmla="*/ 0 w 4048125"/>
              <a:gd name="connsiteY3" fmla="*/ 5505450 h 5505450"/>
            </a:gdLst>
            <a:ahLst/>
            <a:cxnLst>
              <a:cxn ang="0">
                <a:pos x="connsiteX0" y="connsiteY0"/>
              </a:cxn>
              <a:cxn ang="0">
                <a:pos x="connsiteX1" y="connsiteY1"/>
              </a:cxn>
              <a:cxn ang="0">
                <a:pos x="connsiteX2" y="connsiteY2"/>
              </a:cxn>
              <a:cxn ang="0">
                <a:pos x="connsiteX3" y="connsiteY3"/>
              </a:cxn>
            </a:cxnLst>
            <a:rect l="l" t="t" r="r" b="b"/>
            <a:pathLst>
              <a:path w="4048125" h="5505450">
                <a:moveTo>
                  <a:pt x="0" y="0"/>
                </a:moveTo>
                <a:lnTo>
                  <a:pt x="4048125" y="0"/>
                </a:lnTo>
                <a:lnTo>
                  <a:pt x="4048125" y="5505450"/>
                </a:lnTo>
                <a:lnTo>
                  <a:pt x="0" y="5505450"/>
                </a:lnTo>
                <a:close/>
              </a:path>
            </a:pathLst>
          </a:custGeom>
        </p:spPr>
        <p:txBody>
          <a:bodyPr wrap="square">
            <a:noAutofit/>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95325" y="650930"/>
            <a:ext cx="10801351" cy="3177153"/>
          </a:xfrm>
          <a:custGeom>
            <a:avLst/>
            <a:gdLst>
              <a:gd name="connsiteX0" fmla="*/ 0 w 10801351"/>
              <a:gd name="connsiteY0" fmla="*/ 0 h 3177153"/>
              <a:gd name="connsiteX1" fmla="*/ 10801351 w 10801351"/>
              <a:gd name="connsiteY1" fmla="*/ 0 h 3177153"/>
              <a:gd name="connsiteX2" fmla="*/ 10801351 w 10801351"/>
              <a:gd name="connsiteY2" fmla="*/ 3177153 h 3177153"/>
              <a:gd name="connsiteX3" fmla="*/ 0 w 10801351"/>
              <a:gd name="connsiteY3" fmla="*/ 3177153 h 3177153"/>
            </a:gdLst>
            <a:ahLst/>
            <a:cxnLst>
              <a:cxn ang="0">
                <a:pos x="connsiteX0" y="connsiteY0"/>
              </a:cxn>
              <a:cxn ang="0">
                <a:pos x="connsiteX1" y="connsiteY1"/>
              </a:cxn>
              <a:cxn ang="0">
                <a:pos x="connsiteX2" y="connsiteY2"/>
              </a:cxn>
              <a:cxn ang="0">
                <a:pos x="connsiteX3" y="connsiteY3"/>
              </a:cxn>
            </a:cxnLst>
            <a:rect l="l" t="t" r="r" b="b"/>
            <a:pathLst>
              <a:path w="10801351" h="3177153">
                <a:moveTo>
                  <a:pt x="0" y="0"/>
                </a:moveTo>
                <a:lnTo>
                  <a:pt x="10801351" y="0"/>
                </a:lnTo>
                <a:lnTo>
                  <a:pt x="10801351" y="3177153"/>
                </a:lnTo>
                <a:lnTo>
                  <a:pt x="0" y="3177153"/>
                </a:lnTo>
                <a:close/>
              </a:path>
            </a:pathLst>
          </a:custGeom>
        </p:spPr>
        <p:txBody>
          <a:bodyPr wrap="square">
            <a:noAutofit/>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8613676" y="6598630"/>
            <a:ext cx="775136" cy="246221"/>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endParaRPr lang="en-US" altLang="zh-CN" sz="100" dirty="0">
              <a:solidFill>
                <a:prstClr val="white"/>
              </a:solidFill>
              <a:latin typeface="Calibri"/>
              <a:ea typeface="宋体"/>
            </a:endParaRP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endParaRPr lang="en-US" altLang="zh-CN" sz="100" dirty="0">
              <a:solidFill>
                <a:prstClr val="white"/>
              </a:solidFill>
              <a:latin typeface="Calibri"/>
              <a:ea typeface="宋体"/>
            </a:endParaRP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endParaRPr lang="en-US" altLang="zh-CN" sz="100" dirty="0">
              <a:solidFill>
                <a:prstClr val="white"/>
              </a:solidFill>
              <a:latin typeface="Calibri"/>
              <a:ea typeface="宋体"/>
            </a:endParaRP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endParaRPr lang="en-US" altLang="zh-CN" sz="100" dirty="0">
              <a:solidFill>
                <a:prstClr val="white"/>
              </a:solidFill>
              <a:latin typeface="Calibri"/>
              <a:ea typeface="宋体"/>
            </a:endParaRP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endParaRPr lang="en-US" altLang="zh-CN" sz="100" dirty="0">
              <a:solidFill>
                <a:prstClr val="white"/>
              </a:solidFill>
              <a:latin typeface="Calibri"/>
              <a:ea typeface="宋体"/>
            </a:endParaRP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endParaRPr lang="en-US" altLang="zh-CN" sz="100" dirty="0">
              <a:solidFill>
                <a:prstClr val="white"/>
              </a:solidFill>
              <a:latin typeface="Calibri"/>
              <a:ea typeface="宋体"/>
            </a:endParaRP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endParaRPr lang="en-US" altLang="zh-CN" sz="100" dirty="0">
              <a:solidFill>
                <a:prstClr val="white"/>
              </a:solidFill>
              <a:latin typeface="Calibri"/>
              <a:ea typeface="宋体"/>
            </a:endParaRP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endParaRPr lang="en-US" altLang="zh-CN" sz="100" dirty="0">
              <a:solidFill>
                <a:prstClr val="white"/>
              </a:solidFill>
              <a:latin typeface="Calibri"/>
              <a:ea typeface="宋体"/>
            </a:endParaRPr>
          </a:p>
          <a:p>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endParaRPr lang="en-US" altLang="zh-CN" sz="100" dirty="0">
              <a:solidFill>
                <a:prstClr val="white"/>
              </a:solidFill>
              <a:latin typeface="Calibri"/>
              <a:ea typeface="宋体"/>
            </a:endParaRP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占位符 34"/>
          <p:cNvPicPr>
            <a:picLocks noGrp="1" noChangeAspect="1"/>
          </p:cNvPicPr>
          <p:nvPr>
            <p:ph type="pic" sz="quarter" idx="10"/>
          </p:nvPr>
        </p:nvPicPr>
        <p:blipFill>
          <a:blip r:embed="rId1" cstate="screen">
            <a:duotone>
              <a:schemeClr val="bg2">
                <a:shade val="45000"/>
                <a:satMod val="135000"/>
              </a:schemeClr>
              <a:prstClr val="white"/>
            </a:duotone>
          </a:blip>
          <a:srcRect/>
          <a:stretch>
            <a:fillRect/>
          </a:stretch>
        </p:blipFill>
        <p:spPr/>
      </p:pic>
      <p:sp>
        <p:nvSpPr>
          <p:cNvPr id="3" name="矩形 2"/>
          <p:cNvSpPr/>
          <p:nvPr/>
        </p:nvSpPr>
        <p:spPr>
          <a:xfrm>
            <a:off x="1637656" y="2685532"/>
            <a:ext cx="8916690" cy="2750047"/>
          </a:xfrm>
          <a:prstGeom prst="rect">
            <a:avLst/>
          </a:pr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164599" y="3038926"/>
            <a:ext cx="7862804" cy="523220"/>
          </a:xfrm>
          <a:prstGeom prst="rect">
            <a:avLst/>
          </a:prstGeom>
          <a:noFill/>
        </p:spPr>
        <p:txBody>
          <a:bodyPr wrap="square" rtlCol="0">
            <a:spAutoFit/>
            <a:scene3d>
              <a:camera prst="orthographicFront"/>
              <a:lightRig rig="threePt" dir="t">
                <a:rot lat="0" lon="0" rev="0"/>
              </a:lightRig>
            </a:scene3d>
            <a:sp3d contourW="12700"/>
          </a:bodyPr>
          <a:lstStyle/>
          <a:p>
            <a:pPr algn="dist"/>
            <a:r>
              <a:rPr lang="zh-CN" altLang="zh-CN" sz="2800" b="1" dirty="0"/>
              <a:t>基于行为序列的用户兴趣挖掘研究</a:t>
            </a:r>
            <a:endParaRPr lang="zh-CN" altLang="en-US" sz="2800" b="1" dirty="0">
              <a:latin typeface="Geometr415 Blk BT" panose="020B0802020204020303" pitchFamily="34" charset="0"/>
            </a:endParaRPr>
          </a:p>
        </p:txBody>
      </p:sp>
      <p:sp>
        <p:nvSpPr>
          <p:cNvPr id="9" name="文本框 8"/>
          <p:cNvSpPr txBox="1"/>
          <p:nvPr/>
        </p:nvSpPr>
        <p:spPr>
          <a:xfrm>
            <a:off x="4499572" y="4191754"/>
            <a:ext cx="3032911" cy="646331"/>
          </a:xfrm>
          <a:prstGeom prst="rect">
            <a:avLst/>
          </a:prstGeom>
          <a:noFill/>
        </p:spPr>
        <p:txBody>
          <a:bodyPr wrap="square" rtlCol="0">
            <a:spAutoFit/>
          </a:bodyPr>
          <a:lstStyle/>
          <a:p>
            <a:r>
              <a:rPr lang="zh-CN" altLang="en-US" dirty="0"/>
              <a:t>汇报人     ：  王伟</a:t>
            </a:r>
            <a:endParaRPr lang="en-US" altLang="zh-CN" dirty="0"/>
          </a:p>
          <a:p>
            <a:r>
              <a:rPr lang="zh-CN" altLang="en-US" dirty="0"/>
              <a:t>汇报日期  ： </a:t>
            </a:r>
            <a:r>
              <a:rPr lang="en-US" altLang="zh-CN" dirty="0"/>
              <a:t>2018/4/3</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1000"/>
                            </p:stCondLst>
                            <p:childTnLst>
                              <p:par>
                                <p:cTn id="13" presetID="37"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900" decel="100000" fill="hold"/>
                                        <p:tgtEl>
                                          <p:spTgt spid="4"/>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14825" y="1809750"/>
            <a:ext cx="3562350" cy="0"/>
            <a:chOff x="4000500" y="1809750"/>
            <a:chExt cx="3562350" cy="0"/>
          </a:xfrm>
        </p:grpSpPr>
        <p:cxnSp>
          <p:nvCxnSpPr>
            <p:cNvPr id="3" name="直接连接符 2"/>
            <p:cNvCxnSpPr/>
            <p:nvPr/>
          </p:nvCxnSpPr>
          <p:spPr>
            <a:xfrm>
              <a:off x="4000500" y="1809750"/>
              <a:ext cx="35623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5114925" y="1809750"/>
              <a:ext cx="13335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2895600" y="1000844"/>
            <a:ext cx="6400800" cy="584775"/>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algn="ctr"/>
            <a:r>
              <a:rPr lang="zh-CN" altLang="en-US" sz="3200" dirty="0"/>
              <a:t>课题理解</a:t>
            </a:r>
          </a:p>
        </p:txBody>
      </p:sp>
      <p:sp>
        <p:nvSpPr>
          <p:cNvPr id="8" name="文本框 7"/>
          <p:cNvSpPr txBox="1"/>
          <p:nvPr/>
        </p:nvSpPr>
        <p:spPr>
          <a:xfrm>
            <a:off x="2162629" y="2769665"/>
            <a:ext cx="7866742" cy="2120452"/>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algn="just">
              <a:lnSpc>
                <a:spcPct val="150000"/>
              </a:lnSpc>
            </a:pPr>
            <a:r>
              <a:rPr lang="zh-CN" altLang="en-US" sz="1800" dirty="0"/>
              <a:t>对于一个网站，从用户需求的角度考虑，对内容的判断标准无疑是用户对此内容是否感兴趣。比如淘宝</a:t>
            </a:r>
            <a:r>
              <a:rPr lang="en-US" altLang="zh-CN" sz="1800" dirty="0"/>
              <a:t>2013</a:t>
            </a:r>
            <a:r>
              <a:rPr lang="zh-CN" altLang="en-US" sz="1800" dirty="0"/>
              <a:t>年提出的“千人千面”算法，结合淘宝庞大的数据库，能从细分类目中抓取那些特征和买家兴趣点匹配的推广商品。</a:t>
            </a:r>
            <a:endParaRPr lang="en-US" altLang="zh-CN" sz="1800" dirty="0"/>
          </a:p>
          <a:p>
            <a:pPr algn="just">
              <a:lnSpc>
                <a:spcPct val="150000"/>
              </a:lnSpc>
            </a:pPr>
            <a:r>
              <a:rPr lang="zh-CN" altLang="en-US" sz="1800" dirty="0"/>
              <a:t>基于行为序列的用户兴趣挖掘研究，同样需要大量的数据集作为研究对象，通过算法分析，训练出一个能够代表用户兴趣的模型。</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900" decel="100000" fill="hold"/>
                                        <p:tgtEl>
                                          <p:spTgt spid="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16" presetClass="entr" presetSubtype="37"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outVertical)">
                                      <p:cBhvr>
                                        <p:cTn id="14" dur="500"/>
                                        <p:tgtEl>
                                          <p:spTgt spid="6"/>
                                        </p:tgtEl>
                                      </p:cBhvr>
                                    </p:animEffect>
                                  </p:childTnLst>
                                </p:cTn>
                              </p:par>
                            </p:childTnLst>
                          </p:cTn>
                        </p:par>
                        <p:par>
                          <p:cTn id="15" fill="hold">
                            <p:stCondLst>
                              <p:cond delay="1500"/>
                            </p:stCondLst>
                            <p:childTnLst>
                              <p:par>
                                <p:cTn id="16" presetID="14" presetClass="entr" presetSubtype="1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horizont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占位符 29"/>
          <p:cNvPicPr>
            <a:picLocks noGrp="1" noChangeAspect="1"/>
          </p:cNvPicPr>
          <p:nvPr>
            <p:ph type="pic" sz="quarter" idx="10"/>
          </p:nvPr>
        </p:nvPicPr>
        <p:blipFill>
          <a:blip r:embed="rId1" cstate="screen">
            <a:duotone>
              <a:schemeClr val="bg2">
                <a:shade val="45000"/>
                <a:satMod val="135000"/>
              </a:schemeClr>
              <a:prstClr val="white"/>
            </a:duotone>
          </a:blip>
          <a:srcRect/>
          <a:stretch>
            <a:fillRect/>
          </a:stretch>
        </p:blipFill>
        <p:spPr/>
      </p:pic>
      <p:sp>
        <p:nvSpPr>
          <p:cNvPr id="3" name="矩形 2"/>
          <p:cNvSpPr/>
          <p:nvPr/>
        </p:nvSpPr>
        <p:spPr>
          <a:xfrm>
            <a:off x="1637655" y="1882350"/>
            <a:ext cx="9859019" cy="3896130"/>
          </a:xfrm>
          <a:prstGeom prst="rect">
            <a:avLst/>
          </a:pr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567164" y="937052"/>
            <a:ext cx="4883903" cy="830997"/>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4800" dirty="0">
                <a:latin typeface="Geometr415 Blk BT" panose="020B0802020204020303" pitchFamily="34" charset="0"/>
              </a:rPr>
              <a:t>CONTENTS</a:t>
            </a:r>
            <a:endParaRPr lang="zh-CN" altLang="en-US" sz="4800" dirty="0">
              <a:latin typeface="Geometr415 Blk BT" panose="020B0802020204020303" pitchFamily="34" charset="0"/>
            </a:endParaRPr>
          </a:p>
        </p:txBody>
      </p:sp>
      <p:grpSp>
        <p:nvGrpSpPr>
          <p:cNvPr id="12" name="组合 11"/>
          <p:cNvGrpSpPr/>
          <p:nvPr/>
        </p:nvGrpSpPr>
        <p:grpSpPr>
          <a:xfrm>
            <a:off x="5685780" y="2237997"/>
            <a:ext cx="5703051" cy="646331"/>
            <a:chOff x="5010151" y="2610534"/>
            <a:chExt cx="5703051" cy="646331"/>
          </a:xfrm>
        </p:grpSpPr>
        <p:grpSp>
          <p:nvGrpSpPr>
            <p:cNvPr id="10" name="组合 9"/>
            <p:cNvGrpSpPr/>
            <p:nvPr/>
          </p:nvGrpSpPr>
          <p:grpSpPr>
            <a:xfrm>
              <a:off x="5010151" y="2610534"/>
              <a:ext cx="723899" cy="646331"/>
              <a:chOff x="5010151" y="2610534"/>
              <a:chExt cx="723899" cy="646331"/>
            </a:xfrm>
          </p:grpSpPr>
          <p:sp>
            <p:nvSpPr>
              <p:cNvPr id="8" name="矩形 7"/>
              <p:cNvSpPr/>
              <p:nvPr/>
            </p:nvSpPr>
            <p:spPr>
              <a:xfrm>
                <a:off x="5105400" y="2666999"/>
                <a:ext cx="533400" cy="533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Geometr415 Blk BT" panose="020B0802020204020303" pitchFamily="34" charset="0"/>
                  </a:rPr>
                  <a:t>1</a:t>
                </a:r>
                <a:endParaRPr lang="zh-CN" altLang="en-US" sz="3600" dirty="0">
                  <a:solidFill>
                    <a:schemeClr val="bg1"/>
                  </a:solidFill>
                  <a:latin typeface="Geometr415 Blk BT" panose="020B0802020204020303" pitchFamily="34" charset="0"/>
                </a:endParaRPr>
              </a:p>
            </p:txBody>
          </p:sp>
        </p:grpSp>
        <p:sp>
          <p:nvSpPr>
            <p:cNvPr id="11" name="文本框 10"/>
            <p:cNvSpPr txBox="1"/>
            <p:nvPr/>
          </p:nvSpPr>
          <p:spPr>
            <a:xfrm>
              <a:off x="5829299" y="2641312"/>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latin typeface="Geometr415 Blk BT" panose="020B0802020204020303" pitchFamily="34" charset="0"/>
                </a:rPr>
                <a:t>用户兴趣模型</a:t>
              </a:r>
            </a:p>
          </p:txBody>
        </p:sp>
      </p:grpSp>
      <p:grpSp>
        <p:nvGrpSpPr>
          <p:cNvPr id="13" name="组合 12"/>
          <p:cNvGrpSpPr/>
          <p:nvPr/>
        </p:nvGrpSpPr>
        <p:grpSpPr>
          <a:xfrm>
            <a:off x="5685780" y="3111020"/>
            <a:ext cx="5703051" cy="646331"/>
            <a:chOff x="5010151" y="2610534"/>
            <a:chExt cx="5703051" cy="646331"/>
          </a:xfrm>
        </p:grpSpPr>
        <p:grpSp>
          <p:nvGrpSpPr>
            <p:cNvPr id="14" name="组合 13"/>
            <p:cNvGrpSpPr/>
            <p:nvPr/>
          </p:nvGrpSpPr>
          <p:grpSpPr>
            <a:xfrm>
              <a:off x="5010151" y="2610534"/>
              <a:ext cx="723899" cy="646331"/>
              <a:chOff x="5010151" y="2610534"/>
              <a:chExt cx="723899" cy="646331"/>
            </a:xfrm>
          </p:grpSpPr>
          <p:sp>
            <p:nvSpPr>
              <p:cNvPr id="16" name="矩形 15"/>
              <p:cNvSpPr/>
              <p:nvPr/>
            </p:nvSpPr>
            <p:spPr>
              <a:xfrm>
                <a:off x="5105400" y="2666999"/>
                <a:ext cx="533400" cy="533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Geometr415 Blk BT" panose="020B0802020204020303" pitchFamily="34" charset="0"/>
                  </a:rPr>
                  <a:t>2</a:t>
                </a:r>
                <a:endParaRPr lang="zh-CN" altLang="en-US" sz="3600" dirty="0">
                  <a:solidFill>
                    <a:schemeClr val="bg1"/>
                  </a:solidFill>
                  <a:latin typeface="Geometr415 Blk BT" panose="020B0802020204020303" pitchFamily="34" charset="0"/>
                </a:endParaRPr>
              </a:p>
            </p:txBody>
          </p:sp>
        </p:grpSp>
        <p:sp>
          <p:nvSpPr>
            <p:cNvPr id="15" name="文本框 14"/>
            <p:cNvSpPr txBox="1"/>
            <p:nvPr/>
          </p:nvSpPr>
          <p:spPr>
            <a:xfrm>
              <a:off x="5829299" y="2641312"/>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en-US" altLang="zh-CN" sz="2800" dirty="0">
                  <a:latin typeface="Geometr415 Blk BT" panose="020B0802020204020303" pitchFamily="34" charset="0"/>
                </a:rPr>
                <a:t>LSTM</a:t>
              </a:r>
              <a:r>
                <a:rPr lang="zh-CN" altLang="en-US" sz="2800" dirty="0">
                  <a:latin typeface="Geometr415 Blk BT" panose="020B0802020204020303" pitchFamily="34" charset="0"/>
                </a:rPr>
                <a:t>网络</a:t>
              </a:r>
            </a:p>
          </p:txBody>
        </p:sp>
      </p:grpSp>
      <p:grpSp>
        <p:nvGrpSpPr>
          <p:cNvPr id="18" name="组合 17"/>
          <p:cNvGrpSpPr/>
          <p:nvPr/>
        </p:nvGrpSpPr>
        <p:grpSpPr>
          <a:xfrm>
            <a:off x="5685780" y="3984043"/>
            <a:ext cx="5703051" cy="646331"/>
            <a:chOff x="5010151" y="2610534"/>
            <a:chExt cx="5703051" cy="646331"/>
          </a:xfrm>
        </p:grpSpPr>
        <p:grpSp>
          <p:nvGrpSpPr>
            <p:cNvPr id="19" name="组合 18"/>
            <p:cNvGrpSpPr/>
            <p:nvPr/>
          </p:nvGrpSpPr>
          <p:grpSpPr>
            <a:xfrm>
              <a:off x="5010151" y="2610534"/>
              <a:ext cx="723899" cy="646331"/>
              <a:chOff x="5010151" y="2610534"/>
              <a:chExt cx="723899" cy="646331"/>
            </a:xfrm>
          </p:grpSpPr>
          <p:sp>
            <p:nvSpPr>
              <p:cNvPr id="21" name="矩形 20"/>
              <p:cNvSpPr/>
              <p:nvPr/>
            </p:nvSpPr>
            <p:spPr>
              <a:xfrm>
                <a:off x="5105400" y="2666999"/>
                <a:ext cx="533400" cy="533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Geometr415 Blk BT" panose="020B0802020204020303" pitchFamily="34" charset="0"/>
                  </a:rPr>
                  <a:t>3</a:t>
                </a:r>
                <a:endParaRPr lang="zh-CN" altLang="en-US" sz="3600" dirty="0">
                  <a:solidFill>
                    <a:schemeClr val="bg1"/>
                  </a:solidFill>
                  <a:latin typeface="Geometr415 Blk BT" panose="020B0802020204020303" pitchFamily="34" charset="0"/>
                </a:endParaRPr>
              </a:p>
            </p:txBody>
          </p:sp>
        </p:grpSp>
        <p:sp>
          <p:nvSpPr>
            <p:cNvPr id="20" name="文本框 19"/>
            <p:cNvSpPr txBox="1"/>
            <p:nvPr/>
          </p:nvSpPr>
          <p:spPr>
            <a:xfrm>
              <a:off x="5829299" y="2641312"/>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latin typeface="Geometr415 Blk BT" panose="020B0802020204020303" pitchFamily="34" charset="0"/>
                </a:rPr>
                <a:t>实现设想</a:t>
              </a:r>
            </a:p>
          </p:txBody>
        </p:sp>
      </p:grpSp>
      <p:grpSp>
        <p:nvGrpSpPr>
          <p:cNvPr id="23" name="组合 22"/>
          <p:cNvGrpSpPr/>
          <p:nvPr/>
        </p:nvGrpSpPr>
        <p:grpSpPr>
          <a:xfrm>
            <a:off x="5685780" y="4857065"/>
            <a:ext cx="5703051" cy="646331"/>
            <a:chOff x="5010151" y="2610534"/>
            <a:chExt cx="5703051" cy="646331"/>
          </a:xfrm>
        </p:grpSpPr>
        <p:grpSp>
          <p:nvGrpSpPr>
            <p:cNvPr id="24" name="组合 23"/>
            <p:cNvGrpSpPr/>
            <p:nvPr/>
          </p:nvGrpSpPr>
          <p:grpSpPr>
            <a:xfrm>
              <a:off x="5010151" y="2610534"/>
              <a:ext cx="723899" cy="646331"/>
              <a:chOff x="5010151" y="2610534"/>
              <a:chExt cx="723899" cy="646331"/>
            </a:xfrm>
          </p:grpSpPr>
          <p:sp>
            <p:nvSpPr>
              <p:cNvPr id="26" name="矩形 25"/>
              <p:cNvSpPr/>
              <p:nvPr/>
            </p:nvSpPr>
            <p:spPr>
              <a:xfrm>
                <a:off x="5105400" y="2666999"/>
                <a:ext cx="533400" cy="533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Geometr415 Blk BT" panose="020B0802020204020303" pitchFamily="34" charset="0"/>
                  </a:rPr>
                  <a:t>4</a:t>
                </a:r>
                <a:endParaRPr lang="zh-CN" altLang="en-US" sz="3600" dirty="0">
                  <a:solidFill>
                    <a:schemeClr val="bg1"/>
                  </a:solidFill>
                  <a:latin typeface="Geometr415 Blk BT" panose="020B0802020204020303" pitchFamily="34" charset="0"/>
                </a:endParaRPr>
              </a:p>
            </p:txBody>
          </p:sp>
        </p:grpSp>
        <p:sp>
          <p:nvSpPr>
            <p:cNvPr id="25" name="文本框 24"/>
            <p:cNvSpPr txBox="1"/>
            <p:nvPr/>
          </p:nvSpPr>
          <p:spPr>
            <a:xfrm>
              <a:off x="5829299" y="2641312"/>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latin typeface="Geometr415 Blk BT" panose="020B0802020204020303" pitchFamily="34" charset="0"/>
                </a:rPr>
                <a:t>标题文字添加此处</a:t>
              </a: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par>
                          <p:cTn id="14" fill="hold">
                            <p:stCondLst>
                              <p:cond delay="1500"/>
                            </p:stCondLst>
                            <p:childTnLst>
                              <p:par>
                                <p:cTn id="15" presetID="12" presetClass="entr" presetSubtype="2"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p:tgtEl>
                                          <p:spTgt spid="7"/>
                                        </p:tgtEl>
                                        <p:attrNameLst>
                                          <p:attrName>ppt_x</p:attrName>
                                        </p:attrNameLst>
                                      </p:cBhvr>
                                      <p:tavLst>
                                        <p:tav tm="0">
                                          <p:val>
                                            <p:strVal val="#ppt_x+#ppt_w*1.125000"/>
                                          </p:val>
                                        </p:tav>
                                        <p:tav tm="100000">
                                          <p:val>
                                            <p:strVal val="#ppt_x"/>
                                          </p:val>
                                        </p:tav>
                                      </p:tavLst>
                                    </p:anim>
                                    <p:animEffect transition="in" filter="wipe(left)">
                                      <p:cBhvr>
                                        <p:cTn id="18" dur="500"/>
                                        <p:tgtEl>
                                          <p:spTgt spid="7"/>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3500"/>
                            </p:stCondLst>
                            <p:childTnLst>
                              <p:par>
                                <p:cTn id="32" presetID="22" presetClass="entr" presetSubtype="8"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1" fmla="*/ 0 w 3505845"/>
              <a:gd name="connsiteY0-2" fmla="*/ 0 h 4673580"/>
              <a:gd name="connsiteX1-3" fmla="*/ 3505845 w 3505845"/>
              <a:gd name="connsiteY1-4" fmla="*/ 0 h 4673580"/>
              <a:gd name="connsiteX2-5" fmla="*/ 3486795 w 3505845"/>
              <a:gd name="connsiteY2-6" fmla="*/ 2247900 h 4673580"/>
              <a:gd name="connsiteX3-7" fmla="*/ 3505845 w 3505845"/>
              <a:gd name="connsiteY3-8" fmla="*/ 4673580 h 4673580"/>
              <a:gd name="connsiteX4-9" fmla="*/ 0 w 3505845"/>
              <a:gd name="connsiteY4-10" fmla="*/ 4673580 h 4673580"/>
              <a:gd name="connsiteX5" fmla="*/ 0 w 3505845"/>
              <a:gd name="connsiteY5" fmla="*/ 0 h 4673580"/>
              <a:gd name="connsiteX0-11" fmla="*/ 0 w 3505845"/>
              <a:gd name="connsiteY0-12" fmla="*/ 0 h 4673580"/>
              <a:gd name="connsiteX1-13" fmla="*/ 3505845 w 3505845"/>
              <a:gd name="connsiteY1-14" fmla="*/ 0 h 4673580"/>
              <a:gd name="connsiteX2-15" fmla="*/ 3486795 w 3505845"/>
              <a:gd name="connsiteY2-16" fmla="*/ 2247900 h 4673580"/>
              <a:gd name="connsiteX3-17" fmla="*/ 3486795 w 3505845"/>
              <a:gd name="connsiteY3-18" fmla="*/ 3524250 h 4673580"/>
              <a:gd name="connsiteX4-19" fmla="*/ 3505845 w 3505845"/>
              <a:gd name="connsiteY4-20" fmla="*/ 4673580 h 4673580"/>
              <a:gd name="connsiteX5-21" fmla="*/ 0 w 3505845"/>
              <a:gd name="connsiteY5-22" fmla="*/ 4673580 h 4673580"/>
              <a:gd name="connsiteX6" fmla="*/ 0 w 3505845"/>
              <a:gd name="connsiteY6" fmla="*/ 0 h 4673580"/>
              <a:gd name="connsiteX0-23" fmla="*/ 0 w 3505845"/>
              <a:gd name="connsiteY0-24" fmla="*/ 0 h 4673580"/>
              <a:gd name="connsiteX1-25" fmla="*/ 3505845 w 3505845"/>
              <a:gd name="connsiteY1-26" fmla="*/ 0 h 4673580"/>
              <a:gd name="connsiteX2-27" fmla="*/ 3486795 w 3505845"/>
              <a:gd name="connsiteY2-28" fmla="*/ 2247900 h 4673580"/>
              <a:gd name="connsiteX3-29" fmla="*/ 3467745 w 3505845"/>
              <a:gd name="connsiteY3-30" fmla="*/ 2857500 h 4673580"/>
              <a:gd name="connsiteX4-31" fmla="*/ 3486795 w 3505845"/>
              <a:gd name="connsiteY4-32" fmla="*/ 3524250 h 4673580"/>
              <a:gd name="connsiteX5-33" fmla="*/ 3505845 w 3505845"/>
              <a:gd name="connsiteY5-34" fmla="*/ 4673580 h 4673580"/>
              <a:gd name="connsiteX6-35" fmla="*/ 0 w 3505845"/>
              <a:gd name="connsiteY6-36" fmla="*/ 4673580 h 4673580"/>
              <a:gd name="connsiteX7" fmla="*/ 0 w 3505845"/>
              <a:gd name="connsiteY7" fmla="*/ 0 h 4673580"/>
              <a:gd name="connsiteX0-37" fmla="*/ 3467745 w 3559185"/>
              <a:gd name="connsiteY0-38" fmla="*/ 2857500 h 4673580"/>
              <a:gd name="connsiteX1-39" fmla="*/ 3486795 w 3559185"/>
              <a:gd name="connsiteY1-40" fmla="*/ 3524250 h 4673580"/>
              <a:gd name="connsiteX2-41" fmla="*/ 3505845 w 3559185"/>
              <a:gd name="connsiteY2-42" fmla="*/ 4673580 h 4673580"/>
              <a:gd name="connsiteX3-43" fmla="*/ 0 w 3559185"/>
              <a:gd name="connsiteY3-44" fmla="*/ 4673580 h 4673580"/>
              <a:gd name="connsiteX4-45" fmla="*/ 0 w 3559185"/>
              <a:gd name="connsiteY4-46" fmla="*/ 0 h 4673580"/>
              <a:gd name="connsiteX5-47" fmla="*/ 3505845 w 3559185"/>
              <a:gd name="connsiteY5-48" fmla="*/ 0 h 4673580"/>
              <a:gd name="connsiteX6-49" fmla="*/ 3486795 w 3559185"/>
              <a:gd name="connsiteY6-50" fmla="*/ 2247900 h 4673580"/>
              <a:gd name="connsiteX7-51" fmla="*/ 3559185 w 3559185"/>
              <a:gd name="connsiteY7-52" fmla="*/ 2948940 h 4673580"/>
              <a:gd name="connsiteX0-53" fmla="*/ 3467745 w 3505845"/>
              <a:gd name="connsiteY0-54" fmla="*/ 2857500 h 4673580"/>
              <a:gd name="connsiteX1-55" fmla="*/ 3486795 w 3505845"/>
              <a:gd name="connsiteY1-56" fmla="*/ 3524250 h 4673580"/>
              <a:gd name="connsiteX2-57" fmla="*/ 3505845 w 3505845"/>
              <a:gd name="connsiteY2-58" fmla="*/ 4673580 h 4673580"/>
              <a:gd name="connsiteX3-59" fmla="*/ 0 w 3505845"/>
              <a:gd name="connsiteY3-60" fmla="*/ 4673580 h 4673580"/>
              <a:gd name="connsiteX4-61" fmla="*/ 0 w 3505845"/>
              <a:gd name="connsiteY4-62" fmla="*/ 0 h 4673580"/>
              <a:gd name="connsiteX5-63" fmla="*/ 3505845 w 3505845"/>
              <a:gd name="connsiteY5-64" fmla="*/ 0 h 4673580"/>
              <a:gd name="connsiteX6-65" fmla="*/ 3486795 w 3505845"/>
              <a:gd name="connsiteY6-66" fmla="*/ 2247900 h 4673580"/>
              <a:gd name="connsiteX0-67" fmla="*/ 3486795 w 3505845"/>
              <a:gd name="connsiteY0-68" fmla="*/ 3524250 h 4673580"/>
              <a:gd name="connsiteX1-69" fmla="*/ 3505845 w 3505845"/>
              <a:gd name="connsiteY1-70" fmla="*/ 4673580 h 4673580"/>
              <a:gd name="connsiteX2-71" fmla="*/ 0 w 3505845"/>
              <a:gd name="connsiteY2-72" fmla="*/ 4673580 h 4673580"/>
              <a:gd name="connsiteX3-73" fmla="*/ 0 w 3505845"/>
              <a:gd name="connsiteY3-74" fmla="*/ 0 h 4673580"/>
              <a:gd name="connsiteX4-75" fmla="*/ 3505845 w 3505845"/>
              <a:gd name="connsiteY4-76" fmla="*/ 0 h 4673580"/>
              <a:gd name="connsiteX5-77" fmla="*/ 3486795 w 3505845"/>
              <a:gd name="connsiteY5-78" fmla="*/ 2247900 h 4673580"/>
              <a:gd name="connsiteX0-79" fmla="*/ 3515978 w 3515978"/>
              <a:gd name="connsiteY0-80" fmla="*/ 3524250 h 4673580"/>
              <a:gd name="connsiteX1-81" fmla="*/ 3505845 w 3515978"/>
              <a:gd name="connsiteY1-82" fmla="*/ 4673580 h 4673580"/>
              <a:gd name="connsiteX2-83" fmla="*/ 0 w 3515978"/>
              <a:gd name="connsiteY2-84" fmla="*/ 4673580 h 4673580"/>
              <a:gd name="connsiteX3-85" fmla="*/ 0 w 3515978"/>
              <a:gd name="connsiteY3-86" fmla="*/ 0 h 4673580"/>
              <a:gd name="connsiteX4-87" fmla="*/ 3505845 w 3515978"/>
              <a:gd name="connsiteY4-88" fmla="*/ 0 h 4673580"/>
              <a:gd name="connsiteX5-89" fmla="*/ 3486795 w 3515978"/>
              <a:gd name="connsiteY5-90" fmla="*/ 2247900 h 4673580"/>
              <a:gd name="connsiteX0-91" fmla="*/ 3506250 w 3506869"/>
              <a:gd name="connsiteY0-92" fmla="*/ 3524250 h 4673580"/>
              <a:gd name="connsiteX1-93" fmla="*/ 3505845 w 3506869"/>
              <a:gd name="connsiteY1-94" fmla="*/ 4673580 h 4673580"/>
              <a:gd name="connsiteX2-95" fmla="*/ 0 w 3506869"/>
              <a:gd name="connsiteY2-96" fmla="*/ 4673580 h 4673580"/>
              <a:gd name="connsiteX3-97" fmla="*/ 0 w 3506869"/>
              <a:gd name="connsiteY3-98" fmla="*/ 0 h 4673580"/>
              <a:gd name="connsiteX4-99" fmla="*/ 3505845 w 3506869"/>
              <a:gd name="connsiteY4-100" fmla="*/ 0 h 4673580"/>
              <a:gd name="connsiteX5-101" fmla="*/ 3486795 w 3506869"/>
              <a:gd name="connsiteY5-102" fmla="*/ 2247900 h 4673580"/>
              <a:gd name="connsiteX0-103" fmla="*/ 3506250 w 3506869"/>
              <a:gd name="connsiteY0-104" fmla="*/ 3524250 h 4673580"/>
              <a:gd name="connsiteX1-105" fmla="*/ 3505845 w 3506869"/>
              <a:gd name="connsiteY1-106" fmla="*/ 4673580 h 4673580"/>
              <a:gd name="connsiteX2-107" fmla="*/ 0 w 3506869"/>
              <a:gd name="connsiteY2-108" fmla="*/ 4673580 h 4673580"/>
              <a:gd name="connsiteX3-109" fmla="*/ 0 w 3506869"/>
              <a:gd name="connsiteY3-110" fmla="*/ 0 h 4673580"/>
              <a:gd name="connsiteX4-111" fmla="*/ 3505845 w 3506869"/>
              <a:gd name="connsiteY4-112" fmla="*/ 0 h 4673580"/>
              <a:gd name="connsiteX5-113" fmla="*/ 3496523 w 3506869"/>
              <a:gd name="connsiteY5-114" fmla="*/ 2247900 h 4673580"/>
              <a:gd name="connsiteX0-115" fmla="*/ 3506250 w 3525963"/>
              <a:gd name="connsiteY0-116" fmla="*/ 3524250 h 4673580"/>
              <a:gd name="connsiteX1-117" fmla="*/ 3505845 w 3525963"/>
              <a:gd name="connsiteY1-118" fmla="*/ 4673580 h 4673580"/>
              <a:gd name="connsiteX2-119" fmla="*/ 0 w 3525963"/>
              <a:gd name="connsiteY2-120" fmla="*/ 4673580 h 4673580"/>
              <a:gd name="connsiteX3-121" fmla="*/ 0 w 3525963"/>
              <a:gd name="connsiteY3-122" fmla="*/ 0 h 4673580"/>
              <a:gd name="connsiteX4-123" fmla="*/ 3505845 w 3525963"/>
              <a:gd name="connsiteY4-124" fmla="*/ 0 h 4673580"/>
              <a:gd name="connsiteX5-125" fmla="*/ 3525706 w 3525963"/>
              <a:gd name="connsiteY5-126" fmla="*/ 2257628 h 4673580"/>
              <a:gd name="connsiteX0-127" fmla="*/ 3506250 w 3516372"/>
              <a:gd name="connsiteY0-128" fmla="*/ 3524250 h 4673580"/>
              <a:gd name="connsiteX1-129" fmla="*/ 3505845 w 3516372"/>
              <a:gd name="connsiteY1-130" fmla="*/ 4673580 h 4673580"/>
              <a:gd name="connsiteX2-131" fmla="*/ 0 w 3516372"/>
              <a:gd name="connsiteY2-132" fmla="*/ 4673580 h 4673580"/>
              <a:gd name="connsiteX3-133" fmla="*/ 0 w 3516372"/>
              <a:gd name="connsiteY3-134" fmla="*/ 0 h 4673580"/>
              <a:gd name="connsiteX4-135" fmla="*/ 3505845 w 3516372"/>
              <a:gd name="connsiteY4-136" fmla="*/ 0 h 4673580"/>
              <a:gd name="connsiteX5-137" fmla="*/ 3515978 w 3516372"/>
              <a:gd name="connsiteY5-138" fmla="*/ 2257628 h 4673580"/>
              <a:gd name="connsiteX0-139" fmla="*/ 3506250 w 3506869"/>
              <a:gd name="connsiteY0-140" fmla="*/ 3524250 h 4673580"/>
              <a:gd name="connsiteX1-141" fmla="*/ 3505845 w 3506869"/>
              <a:gd name="connsiteY1-142" fmla="*/ 4673580 h 4673580"/>
              <a:gd name="connsiteX2-143" fmla="*/ 0 w 3506869"/>
              <a:gd name="connsiteY2-144" fmla="*/ 4673580 h 4673580"/>
              <a:gd name="connsiteX3-145" fmla="*/ 0 w 3506869"/>
              <a:gd name="connsiteY3-146" fmla="*/ 0 h 4673580"/>
              <a:gd name="connsiteX4-147" fmla="*/ 3505845 w 3506869"/>
              <a:gd name="connsiteY4-148" fmla="*/ 0 h 4673580"/>
              <a:gd name="connsiteX5-149" fmla="*/ 3496523 w 3506869"/>
              <a:gd name="connsiteY5-150" fmla="*/ 2257628 h 4673580"/>
            </a:gdLst>
            <a:ahLst/>
            <a:cxnLst>
              <a:cxn ang="0">
                <a:pos x="connsiteX0-139" y="connsiteY0-140"/>
              </a:cxn>
              <a:cxn ang="0">
                <a:pos x="connsiteX1-141" y="connsiteY1-142"/>
              </a:cxn>
              <a:cxn ang="0">
                <a:pos x="connsiteX2-143" y="connsiteY2-144"/>
              </a:cxn>
              <a:cxn ang="0">
                <a:pos x="connsiteX3-145" y="connsiteY3-146"/>
              </a:cxn>
              <a:cxn ang="0">
                <a:pos x="connsiteX4-147" y="connsiteY4-148"/>
              </a:cxn>
              <a:cxn ang="0">
                <a:pos x="connsiteX5-149" y="connsiteY5-150"/>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6" name="文本框 5"/>
          <p:cNvSpPr txBox="1"/>
          <p:nvPr/>
        </p:nvSpPr>
        <p:spPr>
          <a:xfrm>
            <a:off x="3505388" y="3543636"/>
            <a:ext cx="5839795" cy="769441"/>
          </a:xfrm>
          <a:prstGeom prst="rect">
            <a:avLst/>
          </a:prstGeom>
          <a:noFill/>
        </p:spPr>
        <p:txBody>
          <a:bodyPr wrap="square" rtlCol="0">
            <a:spAutoFit/>
            <a:scene3d>
              <a:camera prst="orthographicFront"/>
              <a:lightRig rig="threePt" dir="t">
                <a:rot lat="0" lon="0" rev="0"/>
              </a:lightRig>
            </a:scene3d>
            <a:sp3d contourW="12700"/>
          </a:bodyPr>
          <a:lstStyle/>
          <a:p>
            <a:r>
              <a:rPr lang="zh-CN" altLang="en-US" sz="4400" b="1" dirty="0">
                <a:latin typeface="Geometr415 Blk BT" panose="020B0802020204020303" pitchFamily="34" charset="0"/>
              </a:rPr>
              <a:t>用户兴趣模型</a:t>
            </a: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5400" dirty="0">
                <a:latin typeface="Geometr415 Blk BT" panose="020B0802020204020303" pitchFamily="34" charset="0"/>
              </a:rPr>
              <a:t>PART01</a:t>
            </a:r>
            <a:endParaRPr lang="zh-CN" altLang="en-US" sz="5400" dirty="0">
              <a:latin typeface="Geometr415 Blk BT" panose="020B0802020204020303" pitchFamily="34" charset="0"/>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01</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dirty="0">
                  <a:solidFill>
                    <a:prstClr val="black"/>
                  </a:solidFill>
                  <a:latin typeface="Geometr415 Blk BT" panose="020B0802020204020303" pitchFamily="34" charset="0"/>
                  <a:ea typeface="微软雅黑"/>
                </a:rPr>
                <a:t>用户兴趣模型</a:t>
              </a:r>
              <a:endPar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grpSp>
      <p:sp>
        <p:nvSpPr>
          <p:cNvPr id="2" name="文本框 1"/>
          <p:cNvSpPr txBox="1"/>
          <p:nvPr/>
        </p:nvSpPr>
        <p:spPr>
          <a:xfrm>
            <a:off x="2782430" y="2073244"/>
            <a:ext cx="6627137" cy="2308324"/>
          </a:xfrm>
          <a:prstGeom prst="rect">
            <a:avLst/>
          </a:prstGeom>
          <a:noFill/>
        </p:spPr>
        <p:txBody>
          <a:bodyPr wrap="square" rtlCol="0">
            <a:spAutoFit/>
          </a:bodyPr>
          <a:lstStyle/>
          <a:p>
            <a:r>
              <a:rPr lang="zh-CN" altLang="en-US" dirty="0"/>
              <a:t>用户的兴趣一般都是基于一定的环境，所以既要考虑到不同的划分角度，又要考虑到不同时间段内用户兴趣的转移。</a:t>
            </a:r>
            <a:endParaRPr lang="en-US" altLang="zh-CN" dirty="0"/>
          </a:p>
          <a:p>
            <a:endParaRPr lang="en-US" altLang="zh-CN" dirty="0"/>
          </a:p>
          <a:p>
            <a:r>
              <a:rPr lang="zh-CN" altLang="en-US" dirty="0"/>
              <a:t>如现有的用户短期兴趣模型和长期兴趣模型，以及混合兴趣模型，将用户的兴趣划分成相应的等级，根据权值进行度量。</a:t>
            </a:r>
            <a:endParaRPr lang="en-US" altLang="zh-CN" dirty="0"/>
          </a:p>
          <a:p>
            <a:endParaRPr lang="en-US" altLang="zh-CN" dirty="0"/>
          </a:p>
          <a:p>
            <a:r>
              <a:rPr lang="zh-CN" altLang="en-US" dirty="0"/>
              <a:t>兴趣的转移可以通过对比不同时间窗口内用户浏览内容的关键字聚类的结果得出。</a:t>
            </a:r>
            <a:endParaRPr lang="en-US" altLang="zh-CN"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01</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dirty="0">
                  <a:solidFill>
                    <a:prstClr val="black"/>
                  </a:solidFill>
                  <a:latin typeface="Geometr415 Blk BT" panose="020B0802020204020303" pitchFamily="34" charset="0"/>
                  <a:ea typeface="微软雅黑"/>
                </a:rPr>
                <a:t>用户兴趣模型</a:t>
              </a:r>
              <a:endPar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grpSp>
      <p:sp>
        <p:nvSpPr>
          <p:cNvPr id="2" name="文本框 1"/>
          <p:cNvSpPr txBox="1"/>
          <p:nvPr/>
        </p:nvSpPr>
        <p:spPr>
          <a:xfrm>
            <a:off x="2782430" y="2073244"/>
            <a:ext cx="6627137" cy="2031325"/>
          </a:xfrm>
          <a:prstGeom prst="rect">
            <a:avLst/>
          </a:prstGeom>
          <a:noFill/>
        </p:spPr>
        <p:txBody>
          <a:bodyPr wrap="square" rtlCol="0">
            <a:spAutoFit/>
          </a:bodyPr>
          <a:lstStyle/>
          <a:p>
            <a:r>
              <a:rPr lang="zh-CN" altLang="en-US" dirty="0"/>
              <a:t>在相当长时间内，利用遗忘模型对用户兴趣进行衰减处理比较容易被人理解和接受。但是在短时间内，如果用户兴趣发生偏移，该模型处理不了。针对这种情况，一些学者研究出一种混合兴趣建模的方法，即为一个用户同时建立长期兴趣和短期兴趣模型。</a:t>
            </a:r>
            <a:endParaRPr lang="en-US" altLang="zh-CN" dirty="0"/>
          </a:p>
          <a:p>
            <a:r>
              <a:rPr lang="zh-CN" altLang="en-US" dirty="0"/>
              <a:t>这种兴趣模型依靠用户的历史数据来挖掘用户稳定的，波动范围小的长期兴趣，依靠最近的数据来挖掘用户个性化的、波动范围打的短期兴趣。</a:t>
            </a:r>
            <a:endParaRPr lang="en-US" altLang="zh-CN" dirty="0"/>
          </a:p>
        </p:txBody>
      </p:sp>
      <p:sp>
        <p:nvSpPr>
          <p:cNvPr id="8" name="文本框 7"/>
          <p:cNvSpPr txBox="1"/>
          <p:nvPr/>
        </p:nvSpPr>
        <p:spPr>
          <a:xfrm>
            <a:off x="2860895" y="1430448"/>
            <a:ext cx="5549774" cy="369332"/>
          </a:xfrm>
          <a:prstGeom prst="rect">
            <a:avLst/>
          </a:prstGeom>
          <a:noFill/>
        </p:spPr>
        <p:txBody>
          <a:bodyPr wrap="square" rtlCol="0">
            <a:spAutoFit/>
          </a:bodyPr>
          <a:lstStyle/>
          <a:p>
            <a:r>
              <a:rPr lang="zh-CN" altLang="en-US" b="1"/>
              <a:t>基于长期和短期的兴趣模型</a:t>
            </a:r>
            <a:endParaRPr lang="en-US" altLang="zh-CN" b="1"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01</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dirty="0">
                  <a:solidFill>
                    <a:prstClr val="black"/>
                  </a:solidFill>
                  <a:latin typeface="Geometr415 Blk BT" panose="020B0802020204020303" pitchFamily="34" charset="0"/>
                  <a:ea typeface="微软雅黑"/>
                </a:rPr>
                <a:t>用户兴趣建模</a:t>
              </a:r>
              <a:endPar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grpSp>
      <p:sp>
        <p:nvSpPr>
          <p:cNvPr id="2" name="矩形 1"/>
          <p:cNvSpPr/>
          <p:nvPr/>
        </p:nvSpPr>
        <p:spPr>
          <a:xfrm>
            <a:off x="5041897" y="2914649"/>
            <a:ext cx="2108204" cy="21082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625971" y="2498723"/>
            <a:ext cx="831852" cy="8318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8" name="矩形 7"/>
          <p:cNvSpPr/>
          <p:nvPr/>
        </p:nvSpPr>
        <p:spPr>
          <a:xfrm>
            <a:off x="6734175" y="2498723"/>
            <a:ext cx="831852" cy="8318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9" name="矩形 8"/>
          <p:cNvSpPr/>
          <p:nvPr/>
        </p:nvSpPr>
        <p:spPr>
          <a:xfrm>
            <a:off x="4625971" y="4550424"/>
            <a:ext cx="831852" cy="8318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0" name="矩形 9"/>
          <p:cNvSpPr/>
          <p:nvPr/>
        </p:nvSpPr>
        <p:spPr>
          <a:xfrm>
            <a:off x="6734175" y="4550424"/>
            <a:ext cx="831852" cy="8318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cxnSp>
        <p:nvCxnSpPr>
          <p:cNvPr id="12" name="直接连接符 11"/>
          <p:cNvCxnSpPr>
            <a:endCxn id="7" idx="1"/>
          </p:cNvCxnSpPr>
          <p:nvPr/>
        </p:nvCxnSpPr>
        <p:spPr>
          <a:xfrm>
            <a:off x="3911600" y="2914649"/>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911600" y="4991100"/>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7569200" y="2914649"/>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7569200" y="4991100"/>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8440966" y="2258525"/>
            <a:ext cx="2966399" cy="646231"/>
            <a:chOff x="6585159" y="1678126"/>
            <a:chExt cx="2966399" cy="646231"/>
          </a:xfrm>
        </p:grpSpPr>
        <p:sp>
          <p:nvSpPr>
            <p:cNvPr id="22" name="矩形 21"/>
            <p:cNvSpPr/>
            <p:nvPr/>
          </p:nvSpPr>
          <p:spPr>
            <a:xfrm>
              <a:off x="6585160" y="2030750"/>
              <a:ext cx="2454998" cy="293607"/>
            </a:xfrm>
            <a:prstGeom prst="rect">
              <a:avLst/>
            </a:prstGeom>
          </p:spPr>
          <p:txBody>
            <a:bodyPr wrap="square">
              <a:spAutoFit/>
              <a:scene3d>
                <a:camera prst="orthographicFront"/>
                <a:lightRig rig="threePt" dir="t"/>
              </a:scene3d>
              <a:sp3d contourW="12700"/>
            </a:bodyPr>
            <a:lstStyle/>
            <a:p>
              <a:pPr>
                <a:lnSpc>
                  <a:spcPct val="120000"/>
                </a:lnSpc>
              </a:pPr>
              <a:endParaRPr lang="zh-CN" altLang="en-US" sz="1200" dirty="0">
                <a:solidFill>
                  <a:schemeClr val="tx1">
                    <a:lumMod val="50000"/>
                    <a:lumOff val="50000"/>
                  </a:schemeClr>
                </a:solidFill>
              </a:endParaRPr>
            </a:p>
          </p:txBody>
        </p:sp>
        <p:sp>
          <p:nvSpPr>
            <p:cNvPr id="23" name="矩形 22"/>
            <p:cNvSpPr/>
            <p:nvPr/>
          </p:nvSpPr>
          <p:spPr>
            <a:xfrm>
              <a:off x="6585159" y="1678126"/>
              <a:ext cx="2966399"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dirty="0"/>
                <a:t> 基于布尔模型的表示方法</a:t>
              </a:r>
              <a:endParaRPr lang="zh-CN" altLang="en-US" b="1" dirty="0">
                <a:solidFill>
                  <a:schemeClr val="tx1">
                    <a:lumMod val="65000"/>
                    <a:lumOff val="35000"/>
                  </a:schemeClr>
                </a:solidFill>
              </a:endParaRPr>
            </a:p>
          </p:txBody>
        </p:sp>
      </p:grpSp>
      <p:grpSp>
        <p:nvGrpSpPr>
          <p:cNvPr id="24" name="组合 23"/>
          <p:cNvGrpSpPr/>
          <p:nvPr/>
        </p:nvGrpSpPr>
        <p:grpSpPr>
          <a:xfrm>
            <a:off x="8440967" y="4337700"/>
            <a:ext cx="3189718" cy="646231"/>
            <a:chOff x="6585160" y="1678126"/>
            <a:chExt cx="3189718" cy="646231"/>
          </a:xfrm>
        </p:grpSpPr>
        <p:sp>
          <p:nvSpPr>
            <p:cNvPr id="25" name="矩形 24"/>
            <p:cNvSpPr/>
            <p:nvPr/>
          </p:nvSpPr>
          <p:spPr>
            <a:xfrm>
              <a:off x="6585160" y="2030750"/>
              <a:ext cx="2454998" cy="293607"/>
            </a:xfrm>
            <a:prstGeom prst="rect">
              <a:avLst/>
            </a:prstGeom>
          </p:spPr>
          <p:txBody>
            <a:bodyPr wrap="square">
              <a:spAutoFit/>
              <a:scene3d>
                <a:camera prst="orthographicFront"/>
                <a:lightRig rig="threePt" dir="t"/>
              </a:scene3d>
              <a:sp3d contourW="12700"/>
            </a:bodyPr>
            <a:lstStyle/>
            <a:p>
              <a:pPr>
                <a:lnSpc>
                  <a:spcPct val="120000"/>
                </a:lnSpc>
              </a:pPr>
              <a:endParaRPr lang="zh-CN" altLang="en-US" sz="1200" dirty="0">
                <a:solidFill>
                  <a:schemeClr val="tx1">
                    <a:lumMod val="50000"/>
                    <a:lumOff val="50000"/>
                  </a:schemeClr>
                </a:solidFill>
              </a:endParaRPr>
            </a:p>
          </p:txBody>
        </p:sp>
        <p:sp>
          <p:nvSpPr>
            <p:cNvPr id="26" name="矩形 25"/>
            <p:cNvSpPr/>
            <p:nvPr/>
          </p:nvSpPr>
          <p:spPr>
            <a:xfrm>
              <a:off x="6585160" y="1678126"/>
              <a:ext cx="3189718"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dirty="0"/>
                <a:t>基于本体的用户模型表示方法</a:t>
              </a:r>
              <a:endParaRPr lang="zh-CN" altLang="en-US" b="1" dirty="0">
                <a:solidFill>
                  <a:schemeClr val="tx1">
                    <a:lumMod val="65000"/>
                    <a:lumOff val="35000"/>
                  </a:schemeClr>
                </a:solidFill>
              </a:endParaRPr>
            </a:p>
          </p:txBody>
        </p:sp>
      </p:grpSp>
      <p:grpSp>
        <p:nvGrpSpPr>
          <p:cNvPr id="27" name="组合 26"/>
          <p:cNvGrpSpPr/>
          <p:nvPr/>
        </p:nvGrpSpPr>
        <p:grpSpPr>
          <a:xfrm>
            <a:off x="1338096" y="2258525"/>
            <a:ext cx="2454998" cy="646231"/>
            <a:chOff x="6585160" y="1678126"/>
            <a:chExt cx="2454998" cy="646231"/>
          </a:xfrm>
        </p:grpSpPr>
        <p:sp>
          <p:nvSpPr>
            <p:cNvPr id="28" name="矩形 27"/>
            <p:cNvSpPr/>
            <p:nvPr/>
          </p:nvSpPr>
          <p:spPr>
            <a:xfrm>
              <a:off x="6585160" y="2030750"/>
              <a:ext cx="2454998" cy="293607"/>
            </a:xfrm>
            <a:prstGeom prst="rect">
              <a:avLst/>
            </a:prstGeom>
          </p:spPr>
          <p:txBody>
            <a:bodyPr wrap="square">
              <a:spAutoFit/>
              <a:scene3d>
                <a:camera prst="orthographicFront"/>
                <a:lightRig rig="threePt" dir="t"/>
              </a:scene3d>
              <a:sp3d contourW="12700"/>
            </a:bodyPr>
            <a:lstStyle/>
            <a:p>
              <a:pPr algn="r">
                <a:lnSpc>
                  <a:spcPct val="120000"/>
                </a:lnSpc>
              </a:pPr>
              <a:endParaRPr lang="zh-CN" altLang="en-US" sz="1200" dirty="0">
                <a:solidFill>
                  <a:schemeClr val="tx1">
                    <a:lumMod val="50000"/>
                    <a:lumOff val="50000"/>
                  </a:schemeClr>
                </a:solidFill>
              </a:endParaRPr>
            </a:p>
          </p:txBody>
        </p:sp>
        <p:sp>
          <p:nvSpPr>
            <p:cNvPr id="29" name="矩形 28"/>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dirty="0"/>
                <a:t>关键词列表表示法</a:t>
              </a:r>
              <a:endParaRPr lang="zh-CN" altLang="en-US" b="1" dirty="0">
                <a:solidFill>
                  <a:schemeClr val="tx1">
                    <a:lumMod val="65000"/>
                    <a:lumOff val="35000"/>
                  </a:schemeClr>
                </a:solidFill>
              </a:endParaRPr>
            </a:p>
          </p:txBody>
        </p:sp>
      </p:grpSp>
      <p:grpSp>
        <p:nvGrpSpPr>
          <p:cNvPr id="30" name="组合 29"/>
          <p:cNvGrpSpPr/>
          <p:nvPr/>
        </p:nvGrpSpPr>
        <p:grpSpPr>
          <a:xfrm>
            <a:off x="561315" y="4337700"/>
            <a:ext cx="3231779" cy="646231"/>
            <a:chOff x="5808379" y="1678126"/>
            <a:chExt cx="3231779" cy="646231"/>
          </a:xfrm>
        </p:grpSpPr>
        <p:sp>
          <p:nvSpPr>
            <p:cNvPr id="31" name="矩形 30"/>
            <p:cNvSpPr/>
            <p:nvPr/>
          </p:nvSpPr>
          <p:spPr>
            <a:xfrm>
              <a:off x="6439593" y="2030750"/>
              <a:ext cx="2454998" cy="293607"/>
            </a:xfrm>
            <a:prstGeom prst="rect">
              <a:avLst/>
            </a:prstGeom>
          </p:spPr>
          <p:txBody>
            <a:bodyPr wrap="square">
              <a:spAutoFit/>
              <a:scene3d>
                <a:camera prst="orthographicFront"/>
                <a:lightRig rig="threePt" dir="t"/>
              </a:scene3d>
              <a:sp3d contourW="12700"/>
            </a:bodyPr>
            <a:lstStyle/>
            <a:p>
              <a:pPr algn="r">
                <a:lnSpc>
                  <a:spcPct val="120000"/>
                </a:lnSpc>
              </a:pPr>
              <a:endParaRPr lang="zh-CN" altLang="en-US" sz="1200" dirty="0">
                <a:solidFill>
                  <a:schemeClr val="tx1">
                    <a:lumMod val="50000"/>
                    <a:lumOff val="50000"/>
                  </a:schemeClr>
                </a:solidFill>
              </a:endParaRPr>
            </a:p>
          </p:txBody>
        </p:sp>
        <p:sp>
          <p:nvSpPr>
            <p:cNvPr id="32" name="矩形 31"/>
            <p:cNvSpPr/>
            <p:nvPr/>
          </p:nvSpPr>
          <p:spPr>
            <a:xfrm>
              <a:off x="5808379" y="1678126"/>
              <a:ext cx="3231779"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dirty="0"/>
                <a:t> 基于向量空间模型的表示方法</a:t>
              </a:r>
              <a:endParaRPr lang="zh-CN" altLang="en-US" b="1" dirty="0">
                <a:solidFill>
                  <a:schemeClr val="tx1">
                    <a:lumMod val="65000"/>
                    <a:lumOff val="35000"/>
                  </a:schemeClr>
                </a:solidFill>
              </a:endParaRPr>
            </a:p>
          </p:txBody>
        </p:sp>
      </p:grpSp>
    </p:spTree>
  </p:cSld>
  <p:clrMapOvr>
    <a:masterClrMapping/>
  </p:clrMapOvr>
  <p:transition spd="slow">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anim calcmode="lin" valueType="num">
                                          <p:cBhvr>
                                            <p:cTn id="17" dur="500" fill="hold"/>
                                            <p:tgtEl>
                                              <p:spTgt spid="7"/>
                                            </p:tgtEl>
                                            <p:attrNameLst>
                                              <p:attrName>ppt_x</p:attrName>
                                            </p:attrNameLst>
                                          </p:cBhvr>
                                          <p:tavLst>
                                            <p:tav tm="0">
                                              <p:val>
                                                <p:fltVal val="0.5"/>
                                              </p:val>
                                            </p:tav>
                                            <p:tav tm="100000">
                                              <p:val>
                                                <p:strVal val="#ppt_x"/>
                                              </p:val>
                                            </p:tav>
                                          </p:tavLst>
                                        </p:anim>
                                        <p:anim calcmode="lin" valueType="num">
                                          <p:cBhvr>
                                            <p:cTn id="18" dur="500" fill="hold"/>
                                            <p:tgtEl>
                                              <p:spTgt spid="7"/>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anim calcmode="lin" valueType="num">
                                          <p:cBhvr>
                                            <p:cTn id="31" dur="500" fill="hold"/>
                                            <p:tgtEl>
                                              <p:spTgt spid="9"/>
                                            </p:tgtEl>
                                            <p:attrNameLst>
                                              <p:attrName>ppt_x</p:attrName>
                                            </p:attrNameLst>
                                          </p:cBhvr>
                                          <p:tavLst>
                                            <p:tav tm="0">
                                              <p:val>
                                                <p:fltVal val="0.5"/>
                                              </p:val>
                                            </p:tav>
                                            <p:tav tm="100000">
                                              <p:val>
                                                <p:strVal val="#ppt_x"/>
                                              </p:val>
                                            </p:tav>
                                          </p:tavLst>
                                        </p:anim>
                                        <p:anim calcmode="lin" valueType="num">
                                          <p:cBhvr>
                                            <p:cTn id="32" dur="500" fill="hold"/>
                                            <p:tgtEl>
                                              <p:spTgt spid="9"/>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fltVal val="0.5"/>
                                              </p:val>
                                            </p:tav>
                                            <p:tav tm="100000">
                                              <p:val>
                                                <p:strVal val="#ppt_x"/>
                                              </p:val>
                                            </p:tav>
                                          </p:tavLst>
                                        </p:anim>
                                        <p:anim calcmode="lin" valueType="num">
                                          <p:cBhvr>
                                            <p:cTn id="39" dur="500" fill="hold"/>
                                            <p:tgtEl>
                                              <p:spTgt spid="10"/>
                                            </p:tgtEl>
                                            <p:attrNameLst>
                                              <p:attrName>ppt_y</p:attrName>
                                            </p:attrNameLst>
                                          </p:cBhvr>
                                          <p:tavLst>
                                            <p:tav tm="0">
                                              <p:val>
                                                <p:fltVal val="0.5"/>
                                              </p:val>
                                            </p:tav>
                                            <p:tav tm="100000">
                                              <p:val>
                                                <p:strVal val="#ppt_y"/>
                                              </p:val>
                                            </p:tav>
                                          </p:tavLst>
                                        </p:anim>
                                      </p:childTnLst>
                                    </p:cTn>
                                  </p:par>
                                  <p:par>
                                    <p:cTn id="40" presetID="53" presetClass="entr" presetSubtype="528"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anim calcmode="lin" valueType="num">
                                          <p:cBhvr>
                                            <p:cTn id="45" dur="500" fill="hold"/>
                                            <p:tgtEl>
                                              <p:spTgt spid="12"/>
                                            </p:tgtEl>
                                            <p:attrNameLst>
                                              <p:attrName>ppt_x</p:attrName>
                                            </p:attrNameLst>
                                          </p:cBhvr>
                                          <p:tavLst>
                                            <p:tav tm="0">
                                              <p:val>
                                                <p:fltVal val="0.5"/>
                                              </p:val>
                                            </p:tav>
                                            <p:tav tm="100000">
                                              <p:val>
                                                <p:strVal val="#ppt_x"/>
                                              </p:val>
                                            </p:tav>
                                          </p:tavLst>
                                        </p:anim>
                                        <p:anim calcmode="lin" valueType="num">
                                          <p:cBhvr>
                                            <p:cTn id="46" dur="500" fill="hold"/>
                                            <p:tgtEl>
                                              <p:spTgt spid="12"/>
                                            </p:tgtEl>
                                            <p:attrNameLst>
                                              <p:attrName>ppt_y</p:attrName>
                                            </p:attrNameLst>
                                          </p:cBhvr>
                                          <p:tavLst>
                                            <p:tav tm="0">
                                              <p:val>
                                                <p:fltVal val="0.5"/>
                                              </p:val>
                                            </p:tav>
                                            <p:tav tm="100000">
                                              <p:val>
                                                <p:strVal val="#ppt_y"/>
                                              </p:val>
                                            </p:tav>
                                          </p:tavLst>
                                        </p:anim>
                                      </p:childTnLst>
                                    </p:cTn>
                                  </p:par>
                                  <p:par>
                                    <p:cTn id="47" presetID="53" presetClass="entr" presetSubtype="528"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anim calcmode="lin" valueType="num">
                                          <p:cBhvr>
                                            <p:cTn id="52" dur="500" fill="hold"/>
                                            <p:tgtEl>
                                              <p:spTgt spid="14"/>
                                            </p:tgtEl>
                                            <p:attrNameLst>
                                              <p:attrName>ppt_x</p:attrName>
                                            </p:attrNameLst>
                                          </p:cBhvr>
                                          <p:tavLst>
                                            <p:tav tm="0">
                                              <p:val>
                                                <p:fltVal val="0.5"/>
                                              </p:val>
                                            </p:tav>
                                            <p:tav tm="100000">
                                              <p:val>
                                                <p:strVal val="#ppt_x"/>
                                              </p:val>
                                            </p:tav>
                                          </p:tavLst>
                                        </p:anim>
                                        <p:anim calcmode="lin" valueType="num">
                                          <p:cBhvr>
                                            <p:cTn id="53" dur="500" fill="hold"/>
                                            <p:tgtEl>
                                              <p:spTgt spid="14"/>
                                            </p:tgtEl>
                                            <p:attrNameLst>
                                              <p:attrName>ppt_y</p:attrName>
                                            </p:attrNameLst>
                                          </p:cBhvr>
                                          <p:tavLst>
                                            <p:tav tm="0">
                                              <p:val>
                                                <p:fltVal val="0.5"/>
                                              </p:val>
                                            </p:tav>
                                            <p:tav tm="100000">
                                              <p:val>
                                                <p:strVal val="#ppt_y"/>
                                              </p:val>
                                            </p:tav>
                                          </p:tavLst>
                                        </p:anim>
                                      </p:childTnLst>
                                    </p:cTn>
                                  </p:par>
                                  <p:par>
                                    <p:cTn id="54" presetID="53" presetClass="entr" presetSubtype="528"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fltVal val="0.5"/>
                                              </p:val>
                                            </p:tav>
                                            <p:tav tm="100000">
                                              <p:val>
                                                <p:strVal val="#ppt_x"/>
                                              </p:val>
                                            </p:tav>
                                          </p:tavLst>
                                        </p:anim>
                                        <p:anim calcmode="lin" valueType="num">
                                          <p:cBhvr>
                                            <p:cTn id="60" dur="500" fill="hold"/>
                                            <p:tgtEl>
                                              <p:spTgt spid="15"/>
                                            </p:tgtEl>
                                            <p:attrNameLst>
                                              <p:attrName>ppt_y</p:attrName>
                                            </p:attrNameLst>
                                          </p:cBhvr>
                                          <p:tavLst>
                                            <p:tav tm="0">
                                              <p:val>
                                                <p:fltVal val="0.5"/>
                                              </p:val>
                                            </p:tav>
                                            <p:tav tm="100000">
                                              <p:val>
                                                <p:strVal val="#ppt_y"/>
                                              </p:val>
                                            </p:tav>
                                          </p:tavLst>
                                        </p:anim>
                                      </p:childTnLst>
                                    </p:cTn>
                                  </p:par>
                                  <p:par>
                                    <p:cTn id="61" presetID="53" presetClass="entr" presetSubtype="528"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fltVal val="0.5"/>
                                              </p:val>
                                            </p:tav>
                                            <p:tav tm="100000">
                                              <p:val>
                                                <p:strVal val="#ppt_x"/>
                                              </p:val>
                                            </p:tav>
                                          </p:tavLst>
                                        </p:anim>
                                        <p:anim calcmode="lin" valueType="num">
                                          <p:cBhvr>
                                            <p:cTn id="67" dur="500" fill="hold"/>
                                            <p:tgtEl>
                                              <p:spTgt spid="16"/>
                                            </p:tgtEl>
                                            <p:attrNameLst>
                                              <p:attrName>ppt_y</p:attrName>
                                            </p:attrNameLst>
                                          </p:cBhvr>
                                          <p:tavLst>
                                            <p:tav tm="0">
                                              <p:val>
                                                <p:fltVal val="0.5"/>
                                              </p:val>
                                            </p:tav>
                                            <p:tav tm="100000">
                                              <p:val>
                                                <p:strVal val="#ppt_y"/>
                                              </p:val>
                                            </p:tav>
                                          </p:tavLst>
                                        </p:anim>
                                      </p:childTnLst>
                                    </p:cTn>
                                  </p:par>
                                </p:childTnLst>
                              </p:cTn>
                            </p:par>
                            <p:par>
                              <p:cTn id="68" fill="hold">
                                <p:stCondLst>
                                  <p:cond delay="500"/>
                                </p:stCondLst>
                                <p:childTnLst>
                                  <p:par>
                                    <p:cTn id="69" presetID="2" presetClass="entr" presetSubtype="2" fill="hold" nodeType="afterEffect" p14:presetBounceEnd="60000">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14:bounceEnd="60000">
                                          <p:cBhvr additive="base">
                                            <p:cTn id="71" dur="1000" fill="hold"/>
                                            <p:tgtEl>
                                              <p:spTgt spid="21"/>
                                            </p:tgtEl>
                                            <p:attrNameLst>
                                              <p:attrName>ppt_x</p:attrName>
                                            </p:attrNameLst>
                                          </p:cBhvr>
                                          <p:tavLst>
                                            <p:tav tm="0">
                                              <p:val>
                                                <p:strVal val="1+#ppt_w/2"/>
                                              </p:val>
                                            </p:tav>
                                            <p:tav tm="100000">
                                              <p:val>
                                                <p:strVal val="#ppt_x"/>
                                              </p:val>
                                            </p:tav>
                                          </p:tavLst>
                                        </p:anim>
                                        <p:anim calcmode="lin" valueType="num" p14:bounceEnd="60000">
                                          <p:cBhvr additive="base">
                                            <p:cTn id="72" dur="1000" fill="hold"/>
                                            <p:tgtEl>
                                              <p:spTgt spid="21"/>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14:presetBounceEnd="60000">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14:bounceEnd="60000">
                                          <p:cBhvr additive="base">
                                            <p:cTn id="75" dur="1000" fill="hold"/>
                                            <p:tgtEl>
                                              <p:spTgt spid="24"/>
                                            </p:tgtEl>
                                            <p:attrNameLst>
                                              <p:attrName>ppt_x</p:attrName>
                                            </p:attrNameLst>
                                          </p:cBhvr>
                                          <p:tavLst>
                                            <p:tav tm="0">
                                              <p:val>
                                                <p:strVal val="1+#ppt_w/2"/>
                                              </p:val>
                                            </p:tav>
                                            <p:tav tm="100000">
                                              <p:val>
                                                <p:strVal val="#ppt_x"/>
                                              </p:val>
                                            </p:tav>
                                          </p:tavLst>
                                        </p:anim>
                                        <p:anim calcmode="lin" valueType="num" p14:bounceEnd="60000">
                                          <p:cBhvr additive="base">
                                            <p:cTn id="76" dur="1000" fill="hold"/>
                                            <p:tgtEl>
                                              <p:spTgt spid="24"/>
                                            </p:tgtEl>
                                            <p:attrNameLst>
                                              <p:attrName>ppt_y</p:attrName>
                                            </p:attrNameLst>
                                          </p:cBhvr>
                                          <p:tavLst>
                                            <p:tav tm="0">
                                              <p:val>
                                                <p:strVal val="#ppt_y"/>
                                              </p:val>
                                            </p:tav>
                                            <p:tav tm="100000">
                                              <p:val>
                                                <p:strVal val="#ppt_y"/>
                                              </p:val>
                                            </p:tav>
                                          </p:tavLst>
                                        </p:anim>
                                      </p:childTnLst>
                                    </p:cTn>
                                  </p:par>
                                  <p:par>
                                    <p:cTn id="77" presetID="2" presetClass="entr" presetSubtype="8" fill="hold" nodeType="withEffect" p14:presetBounceEnd="60000">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14:bounceEnd="60000">
                                          <p:cBhvr additive="base">
                                            <p:cTn id="79" dur="1000" fill="hold"/>
                                            <p:tgtEl>
                                              <p:spTgt spid="27"/>
                                            </p:tgtEl>
                                            <p:attrNameLst>
                                              <p:attrName>ppt_x</p:attrName>
                                            </p:attrNameLst>
                                          </p:cBhvr>
                                          <p:tavLst>
                                            <p:tav tm="0">
                                              <p:val>
                                                <p:strVal val="0-#ppt_w/2"/>
                                              </p:val>
                                            </p:tav>
                                            <p:tav tm="100000">
                                              <p:val>
                                                <p:strVal val="#ppt_x"/>
                                              </p:val>
                                            </p:tav>
                                          </p:tavLst>
                                        </p:anim>
                                        <p:anim calcmode="lin" valueType="num" p14:bounceEnd="60000">
                                          <p:cBhvr additive="base">
                                            <p:cTn id="80" dur="1000" fill="hold"/>
                                            <p:tgtEl>
                                              <p:spTgt spid="27"/>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14:presetBounceEnd="60000">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14:bounceEnd="60000">
                                          <p:cBhvr additive="base">
                                            <p:cTn id="83" dur="1000" fill="hold"/>
                                            <p:tgtEl>
                                              <p:spTgt spid="30"/>
                                            </p:tgtEl>
                                            <p:attrNameLst>
                                              <p:attrName>ppt_x</p:attrName>
                                            </p:attrNameLst>
                                          </p:cBhvr>
                                          <p:tavLst>
                                            <p:tav tm="0">
                                              <p:val>
                                                <p:strVal val="0-#ppt_w/2"/>
                                              </p:val>
                                            </p:tav>
                                            <p:tav tm="100000">
                                              <p:val>
                                                <p:strVal val="#ppt_x"/>
                                              </p:val>
                                            </p:tav>
                                          </p:tavLst>
                                        </p:anim>
                                        <p:anim calcmode="lin" valueType="num" p14:bounceEnd="60000">
                                          <p:cBhvr additive="base">
                                            <p:cTn id="84" dur="10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anim calcmode="lin" valueType="num">
                                          <p:cBhvr>
                                            <p:cTn id="17" dur="500" fill="hold"/>
                                            <p:tgtEl>
                                              <p:spTgt spid="7"/>
                                            </p:tgtEl>
                                            <p:attrNameLst>
                                              <p:attrName>ppt_x</p:attrName>
                                            </p:attrNameLst>
                                          </p:cBhvr>
                                          <p:tavLst>
                                            <p:tav tm="0">
                                              <p:val>
                                                <p:fltVal val="0.5"/>
                                              </p:val>
                                            </p:tav>
                                            <p:tav tm="100000">
                                              <p:val>
                                                <p:strVal val="#ppt_x"/>
                                              </p:val>
                                            </p:tav>
                                          </p:tavLst>
                                        </p:anim>
                                        <p:anim calcmode="lin" valueType="num">
                                          <p:cBhvr>
                                            <p:cTn id="18" dur="500" fill="hold"/>
                                            <p:tgtEl>
                                              <p:spTgt spid="7"/>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anim calcmode="lin" valueType="num">
                                          <p:cBhvr>
                                            <p:cTn id="31" dur="500" fill="hold"/>
                                            <p:tgtEl>
                                              <p:spTgt spid="9"/>
                                            </p:tgtEl>
                                            <p:attrNameLst>
                                              <p:attrName>ppt_x</p:attrName>
                                            </p:attrNameLst>
                                          </p:cBhvr>
                                          <p:tavLst>
                                            <p:tav tm="0">
                                              <p:val>
                                                <p:fltVal val="0.5"/>
                                              </p:val>
                                            </p:tav>
                                            <p:tav tm="100000">
                                              <p:val>
                                                <p:strVal val="#ppt_x"/>
                                              </p:val>
                                            </p:tav>
                                          </p:tavLst>
                                        </p:anim>
                                        <p:anim calcmode="lin" valueType="num">
                                          <p:cBhvr>
                                            <p:cTn id="32" dur="500" fill="hold"/>
                                            <p:tgtEl>
                                              <p:spTgt spid="9"/>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fltVal val="0.5"/>
                                              </p:val>
                                            </p:tav>
                                            <p:tav tm="100000">
                                              <p:val>
                                                <p:strVal val="#ppt_x"/>
                                              </p:val>
                                            </p:tav>
                                          </p:tavLst>
                                        </p:anim>
                                        <p:anim calcmode="lin" valueType="num">
                                          <p:cBhvr>
                                            <p:cTn id="39" dur="500" fill="hold"/>
                                            <p:tgtEl>
                                              <p:spTgt spid="10"/>
                                            </p:tgtEl>
                                            <p:attrNameLst>
                                              <p:attrName>ppt_y</p:attrName>
                                            </p:attrNameLst>
                                          </p:cBhvr>
                                          <p:tavLst>
                                            <p:tav tm="0">
                                              <p:val>
                                                <p:fltVal val="0.5"/>
                                              </p:val>
                                            </p:tav>
                                            <p:tav tm="100000">
                                              <p:val>
                                                <p:strVal val="#ppt_y"/>
                                              </p:val>
                                            </p:tav>
                                          </p:tavLst>
                                        </p:anim>
                                      </p:childTnLst>
                                    </p:cTn>
                                  </p:par>
                                  <p:par>
                                    <p:cTn id="40" presetID="53" presetClass="entr" presetSubtype="528"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anim calcmode="lin" valueType="num">
                                          <p:cBhvr>
                                            <p:cTn id="45" dur="500" fill="hold"/>
                                            <p:tgtEl>
                                              <p:spTgt spid="12"/>
                                            </p:tgtEl>
                                            <p:attrNameLst>
                                              <p:attrName>ppt_x</p:attrName>
                                            </p:attrNameLst>
                                          </p:cBhvr>
                                          <p:tavLst>
                                            <p:tav tm="0">
                                              <p:val>
                                                <p:fltVal val="0.5"/>
                                              </p:val>
                                            </p:tav>
                                            <p:tav tm="100000">
                                              <p:val>
                                                <p:strVal val="#ppt_x"/>
                                              </p:val>
                                            </p:tav>
                                          </p:tavLst>
                                        </p:anim>
                                        <p:anim calcmode="lin" valueType="num">
                                          <p:cBhvr>
                                            <p:cTn id="46" dur="500" fill="hold"/>
                                            <p:tgtEl>
                                              <p:spTgt spid="12"/>
                                            </p:tgtEl>
                                            <p:attrNameLst>
                                              <p:attrName>ppt_y</p:attrName>
                                            </p:attrNameLst>
                                          </p:cBhvr>
                                          <p:tavLst>
                                            <p:tav tm="0">
                                              <p:val>
                                                <p:fltVal val="0.5"/>
                                              </p:val>
                                            </p:tav>
                                            <p:tav tm="100000">
                                              <p:val>
                                                <p:strVal val="#ppt_y"/>
                                              </p:val>
                                            </p:tav>
                                          </p:tavLst>
                                        </p:anim>
                                      </p:childTnLst>
                                    </p:cTn>
                                  </p:par>
                                  <p:par>
                                    <p:cTn id="47" presetID="53" presetClass="entr" presetSubtype="528"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anim calcmode="lin" valueType="num">
                                          <p:cBhvr>
                                            <p:cTn id="52" dur="500" fill="hold"/>
                                            <p:tgtEl>
                                              <p:spTgt spid="14"/>
                                            </p:tgtEl>
                                            <p:attrNameLst>
                                              <p:attrName>ppt_x</p:attrName>
                                            </p:attrNameLst>
                                          </p:cBhvr>
                                          <p:tavLst>
                                            <p:tav tm="0">
                                              <p:val>
                                                <p:fltVal val="0.5"/>
                                              </p:val>
                                            </p:tav>
                                            <p:tav tm="100000">
                                              <p:val>
                                                <p:strVal val="#ppt_x"/>
                                              </p:val>
                                            </p:tav>
                                          </p:tavLst>
                                        </p:anim>
                                        <p:anim calcmode="lin" valueType="num">
                                          <p:cBhvr>
                                            <p:cTn id="53" dur="500" fill="hold"/>
                                            <p:tgtEl>
                                              <p:spTgt spid="14"/>
                                            </p:tgtEl>
                                            <p:attrNameLst>
                                              <p:attrName>ppt_y</p:attrName>
                                            </p:attrNameLst>
                                          </p:cBhvr>
                                          <p:tavLst>
                                            <p:tav tm="0">
                                              <p:val>
                                                <p:fltVal val="0.5"/>
                                              </p:val>
                                            </p:tav>
                                            <p:tav tm="100000">
                                              <p:val>
                                                <p:strVal val="#ppt_y"/>
                                              </p:val>
                                            </p:tav>
                                          </p:tavLst>
                                        </p:anim>
                                      </p:childTnLst>
                                    </p:cTn>
                                  </p:par>
                                  <p:par>
                                    <p:cTn id="54" presetID="53" presetClass="entr" presetSubtype="528"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fltVal val="0.5"/>
                                              </p:val>
                                            </p:tav>
                                            <p:tav tm="100000">
                                              <p:val>
                                                <p:strVal val="#ppt_x"/>
                                              </p:val>
                                            </p:tav>
                                          </p:tavLst>
                                        </p:anim>
                                        <p:anim calcmode="lin" valueType="num">
                                          <p:cBhvr>
                                            <p:cTn id="60" dur="500" fill="hold"/>
                                            <p:tgtEl>
                                              <p:spTgt spid="15"/>
                                            </p:tgtEl>
                                            <p:attrNameLst>
                                              <p:attrName>ppt_y</p:attrName>
                                            </p:attrNameLst>
                                          </p:cBhvr>
                                          <p:tavLst>
                                            <p:tav tm="0">
                                              <p:val>
                                                <p:fltVal val="0.5"/>
                                              </p:val>
                                            </p:tav>
                                            <p:tav tm="100000">
                                              <p:val>
                                                <p:strVal val="#ppt_y"/>
                                              </p:val>
                                            </p:tav>
                                          </p:tavLst>
                                        </p:anim>
                                      </p:childTnLst>
                                    </p:cTn>
                                  </p:par>
                                  <p:par>
                                    <p:cTn id="61" presetID="53" presetClass="entr" presetSubtype="528"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fltVal val="0.5"/>
                                              </p:val>
                                            </p:tav>
                                            <p:tav tm="100000">
                                              <p:val>
                                                <p:strVal val="#ppt_x"/>
                                              </p:val>
                                            </p:tav>
                                          </p:tavLst>
                                        </p:anim>
                                        <p:anim calcmode="lin" valueType="num">
                                          <p:cBhvr>
                                            <p:cTn id="67" dur="500" fill="hold"/>
                                            <p:tgtEl>
                                              <p:spTgt spid="16"/>
                                            </p:tgtEl>
                                            <p:attrNameLst>
                                              <p:attrName>ppt_y</p:attrName>
                                            </p:attrNameLst>
                                          </p:cBhvr>
                                          <p:tavLst>
                                            <p:tav tm="0">
                                              <p:val>
                                                <p:fltVal val="0.5"/>
                                              </p:val>
                                            </p:tav>
                                            <p:tav tm="100000">
                                              <p:val>
                                                <p:strVal val="#ppt_y"/>
                                              </p:val>
                                            </p:tav>
                                          </p:tavLst>
                                        </p:anim>
                                      </p:childTnLst>
                                    </p:cTn>
                                  </p:par>
                                </p:childTnLst>
                              </p:cTn>
                            </p:par>
                            <p:par>
                              <p:cTn id="68" fill="hold">
                                <p:stCondLst>
                                  <p:cond delay="500"/>
                                </p:stCondLst>
                                <p:childTnLst>
                                  <p:par>
                                    <p:cTn id="69" presetID="2" presetClass="entr" presetSubtype="2" fill="hold" nodeType="after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1000" fill="hold"/>
                                            <p:tgtEl>
                                              <p:spTgt spid="21"/>
                                            </p:tgtEl>
                                            <p:attrNameLst>
                                              <p:attrName>ppt_x</p:attrName>
                                            </p:attrNameLst>
                                          </p:cBhvr>
                                          <p:tavLst>
                                            <p:tav tm="0">
                                              <p:val>
                                                <p:strVal val="1+#ppt_w/2"/>
                                              </p:val>
                                            </p:tav>
                                            <p:tav tm="100000">
                                              <p:val>
                                                <p:strVal val="#ppt_x"/>
                                              </p:val>
                                            </p:tav>
                                          </p:tavLst>
                                        </p:anim>
                                        <p:anim calcmode="lin" valueType="num">
                                          <p:cBhvr additive="base">
                                            <p:cTn id="72" dur="1000" fill="hold"/>
                                            <p:tgtEl>
                                              <p:spTgt spid="21"/>
                                            </p:tgtEl>
                                            <p:attrNameLst>
                                              <p:attrName>ppt_y</p:attrName>
                                            </p:attrNameLst>
                                          </p:cBhvr>
                                          <p:tavLst>
                                            <p:tav tm="0">
                                              <p:val>
                                                <p:strVal val="#ppt_y"/>
                                              </p:val>
                                            </p:tav>
                                            <p:tav tm="100000">
                                              <p:val>
                                                <p:strVal val="#ppt_y"/>
                                              </p:val>
                                            </p:tav>
                                          </p:tavLst>
                                        </p:anim>
                                      </p:childTnLst>
                                    </p:cTn>
                                  </p:par>
                                  <p:par>
                                    <p:cTn id="73" presetID="2" presetClass="entr" presetSubtype="2"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1000" fill="hold"/>
                                            <p:tgtEl>
                                              <p:spTgt spid="24"/>
                                            </p:tgtEl>
                                            <p:attrNameLst>
                                              <p:attrName>ppt_x</p:attrName>
                                            </p:attrNameLst>
                                          </p:cBhvr>
                                          <p:tavLst>
                                            <p:tav tm="0">
                                              <p:val>
                                                <p:strVal val="1+#ppt_w/2"/>
                                              </p:val>
                                            </p:tav>
                                            <p:tav tm="100000">
                                              <p:val>
                                                <p:strVal val="#ppt_x"/>
                                              </p:val>
                                            </p:tav>
                                          </p:tavLst>
                                        </p:anim>
                                        <p:anim calcmode="lin" valueType="num">
                                          <p:cBhvr additive="base">
                                            <p:cTn id="76" dur="1000" fill="hold"/>
                                            <p:tgtEl>
                                              <p:spTgt spid="24"/>
                                            </p:tgtEl>
                                            <p:attrNameLst>
                                              <p:attrName>ppt_y</p:attrName>
                                            </p:attrNameLst>
                                          </p:cBhvr>
                                          <p:tavLst>
                                            <p:tav tm="0">
                                              <p:val>
                                                <p:strVal val="#ppt_y"/>
                                              </p:val>
                                            </p:tav>
                                            <p:tav tm="100000">
                                              <p:val>
                                                <p:strVal val="#ppt_y"/>
                                              </p:val>
                                            </p:tav>
                                          </p:tavLst>
                                        </p:anim>
                                      </p:childTnLst>
                                    </p:cTn>
                                  </p:par>
                                  <p:par>
                                    <p:cTn id="77" presetID="2" presetClass="entr" presetSubtype="8"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cBhvr additive="base">
                                            <p:cTn id="79" dur="1000" fill="hold"/>
                                            <p:tgtEl>
                                              <p:spTgt spid="27"/>
                                            </p:tgtEl>
                                            <p:attrNameLst>
                                              <p:attrName>ppt_x</p:attrName>
                                            </p:attrNameLst>
                                          </p:cBhvr>
                                          <p:tavLst>
                                            <p:tav tm="0">
                                              <p:val>
                                                <p:strVal val="0-#ppt_w/2"/>
                                              </p:val>
                                            </p:tav>
                                            <p:tav tm="100000">
                                              <p:val>
                                                <p:strVal val="#ppt_x"/>
                                              </p:val>
                                            </p:tav>
                                          </p:tavLst>
                                        </p:anim>
                                        <p:anim calcmode="lin" valueType="num">
                                          <p:cBhvr additive="base">
                                            <p:cTn id="80" dur="1000" fill="hold"/>
                                            <p:tgtEl>
                                              <p:spTgt spid="27"/>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1000" fill="hold"/>
                                            <p:tgtEl>
                                              <p:spTgt spid="30"/>
                                            </p:tgtEl>
                                            <p:attrNameLst>
                                              <p:attrName>ppt_x</p:attrName>
                                            </p:attrNameLst>
                                          </p:cBhvr>
                                          <p:tavLst>
                                            <p:tav tm="0">
                                              <p:val>
                                                <p:strVal val="0-#ppt_w/2"/>
                                              </p:val>
                                            </p:tav>
                                            <p:tav tm="100000">
                                              <p:val>
                                                <p:strVal val="#ppt_x"/>
                                              </p:val>
                                            </p:tav>
                                          </p:tavLst>
                                        </p:anim>
                                        <p:anim calcmode="lin" valueType="num">
                                          <p:cBhvr additive="base">
                                            <p:cTn id="84" dur="10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01</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向量空间模型表示</a:t>
              </a:r>
            </a:p>
          </p:txBody>
        </p:sp>
      </p:grpSp>
      <p:sp>
        <p:nvSpPr>
          <p:cNvPr id="2" name="文本框 1"/>
          <p:cNvSpPr txBox="1"/>
          <p:nvPr/>
        </p:nvSpPr>
        <p:spPr>
          <a:xfrm>
            <a:off x="1801640" y="1747319"/>
            <a:ext cx="8736594" cy="1477328"/>
          </a:xfrm>
          <a:prstGeom prst="rect">
            <a:avLst/>
          </a:prstGeom>
          <a:noFill/>
        </p:spPr>
        <p:txBody>
          <a:bodyPr wrap="square" rtlCol="0">
            <a:spAutoFit/>
          </a:bodyPr>
          <a:lstStyle/>
          <a:p>
            <a:r>
              <a:rPr lang="zh-CN" altLang="en-US" dirty="0"/>
              <a:t>通过计算关键词的权重，把用户的兴趣展示城有关键词和权重构成的单个分项组成的一个特征向量序列。也就是说，向量空间展示法是关键词展示法的升级版，加入了关键词的权重信息，把文本表示成带权重的信息的词项向量。</a:t>
            </a:r>
            <a:endParaRPr lang="zh-CN" altLang="en-US" dirty="0"/>
          </a:p>
          <a:p>
            <a:r>
              <a:rPr lang="zh-CN" altLang="en-US" dirty="0"/>
              <a:t>下图为向量空间展示法的计算公式。</a:t>
            </a:r>
            <a:endParaRPr lang="zh-CN" altLang="en-US" dirty="0"/>
          </a:p>
          <a:p>
            <a:endParaRPr lang="zh-CN" altLang="en-US" dirty="0"/>
          </a:p>
        </p:txBody>
      </p:sp>
      <p:pic>
        <p:nvPicPr>
          <p:cNvPr id="9" name="图片 8"/>
          <p:cNvPicPr>
            <a:picLocks noChangeAspect="1"/>
          </p:cNvPicPr>
          <p:nvPr/>
        </p:nvPicPr>
        <p:blipFill>
          <a:blip r:embed="rId1"/>
          <a:stretch>
            <a:fillRect/>
          </a:stretch>
        </p:blipFill>
        <p:spPr>
          <a:xfrm>
            <a:off x="3533681" y="3054918"/>
            <a:ext cx="4762500" cy="1276350"/>
          </a:xfrm>
          <a:prstGeom prst="rect">
            <a:avLst/>
          </a:prstGeom>
        </p:spPr>
      </p:pic>
      <mc:AlternateContent xmlns:mc="http://schemas.openxmlformats.org/markup-compatibility/2006">
        <mc:Choice xmlns:a14="http://schemas.microsoft.com/office/drawing/2010/main" Requires="a14">
          <p:sp>
            <p:nvSpPr>
              <p:cNvPr id="11" name="文本框 10">
                <a:extLst>
                  <a:ext uri="{FF2B5EF4-FFF2-40B4-BE49-F238E27FC236}">
                    <a14:artisticCrisscrossEtching id="{77119D41-45A5-4EA4-B3E0-6118CD96B63D}"/>
                  </a:ext>
                </a:extLst>
              </p:cNvPr>
              <p:cNvSpPr txBox="1"/>
              <p:nvPr/>
            </p:nvSpPr>
            <p:spPr>
              <a:xfrm>
                <a:off x="2444436" y="4436198"/>
                <a:ext cx="7134130" cy="1499578"/>
              </a:xfrm>
              <a:prstGeom prst="rect">
                <a:avLst/>
              </a:prstGeom>
              <a:noFill/>
            </p:spPr>
            <p:txBody>
              <a:bodyPr wrap="square" rtlCol="0">
                <a:spAutoFit/>
              </a:bodyPr>
              <a:lstStyle/>
              <a:p>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𝑤</m:t>
                        </m:r>
                      </m:e>
                      <m:sub>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𝑡</m:t>
                            </m:r>
                            <m:r>
                              <a:rPr lang="en-US" altLang="zh-CN" i="1" smtClean="0">
                                <a:latin typeface="Cambria Math" panose="02040503050406030204" pitchFamily="18" charset="0"/>
                              </a:rPr>
                              <m:t>,</m:t>
                            </m:r>
                            <m:r>
                              <a:rPr lang="en-US" altLang="zh-CN" i="1" smtClean="0">
                                <a:latin typeface="Cambria Math" panose="02040503050406030204" pitchFamily="18" charset="0"/>
                              </a:rPr>
                              <m:t>𝑑</m:t>
                            </m:r>
                          </m:e>
                        </m:d>
                      </m:sub>
                    </m:sSub>
                  </m:oMath>
                </a14:m>
                <a:r>
                  <a:rPr lang="zh-CN" altLang="en-US" dirty="0"/>
                  <a:t>：词</a:t>
                </a:r>
                <a:r>
                  <a:rPr lang="en-US" altLang="zh-CN" dirty="0"/>
                  <a:t>t</a:t>
                </a:r>
                <a:r>
                  <a:rPr lang="zh-CN" altLang="en-US" dirty="0"/>
                  <a:t>在文本</a:t>
                </a:r>
                <a:r>
                  <a:rPr lang="en-US" altLang="zh-CN" dirty="0"/>
                  <a:t>d</a:t>
                </a:r>
                <a:r>
                  <a:rPr lang="zh-CN" altLang="en-US" dirty="0"/>
                  <a:t>中的权重</a:t>
                </a:r>
                <a:r>
                  <a:rPr lang="en-US" altLang="zh-CN" dirty="0"/>
                  <a:t>;</a:t>
                </a:r>
              </a:p>
              <a:p>
                <a:r>
                  <a:rPr lang="en-US" altLang="zh-CN" dirty="0"/>
                  <a:t>·  </a:t>
                </a:r>
                <a14:m>
                  <m:oMath xmlns:m="http://schemas.openxmlformats.org/officeDocument/2006/math">
                    <m:r>
                      <a:rPr lang="en-US" altLang="zh-CN" i="1" smtClean="0">
                        <a:latin typeface="Cambria Math" panose="02040503050406030204" pitchFamily="18" charset="0"/>
                      </a:rPr>
                      <m:t>𝑡𝑓</m:t>
                    </m:r>
                    <m:d>
                      <m:dPr>
                        <m:ctrlPr>
                          <a:rPr lang="en-US" altLang="zh-CN" i="1" smtClean="0">
                            <a:latin typeface="Cambria Math" panose="02040503050406030204" pitchFamily="18" charset="0"/>
                          </a:rPr>
                        </m:ctrlPr>
                      </m:dPr>
                      <m:e>
                        <m:r>
                          <a:rPr lang="en-US" altLang="zh-CN" i="1" smtClean="0">
                            <a:latin typeface="Cambria Math" panose="02040503050406030204" pitchFamily="18" charset="0"/>
                          </a:rPr>
                          <m:t>𝑡</m:t>
                        </m:r>
                        <m:r>
                          <a:rPr lang="en-US" altLang="zh-CN" i="1" smtClean="0">
                            <a:latin typeface="Cambria Math" panose="02040503050406030204" pitchFamily="18" charset="0"/>
                          </a:rPr>
                          <m:t>,</m:t>
                        </m:r>
                        <m:r>
                          <a:rPr lang="en-US" altLang="zh-CN" i="1" smtClean="0">
                            <a:latin typeface="Cambria Math" panose="02040503050406030204" pitchFamily="18" charset="0"/>
                          </a:rPr>
                          <m:t>𝑑</m:t>
                        </m:r>
                      </m:e>
                    </m:d>
                  </m:oMath>
                </a14:m>
                <a:r>
                  <a:rPr lang="zh-CN" altLang="en-US" dirty="0"/>
                  <a:t>：词在文本</a:t>
                </a:r>
                <a:r>
                  <a:rPr lang="en-US" altLang="zh-CN" dirty="0"/>
                  <a:t>d</a:t>
                </a:r>
                <a:r>
                  <a:rPr lang="zh-CN" altLang="en-US" dirty="0"/>
                  <a:t>中的词频</a:t>
                </a:r>
                <a:r>
                  <a:rPr lang="en-US" altLang="zh-CN" dirty="0"/>
                  <a:t>;</a:t>
                </a:r>
              </a:p>
              <a:p>
                <a:r>
                  <a:rPr lang="en-US" altLang="zh-CN" dirty="0"/>
                  <a:t>·  N</a:t>
                </a:r>
                <a:r>
                  <a:rPr lang="zh-CN" altLang="en-US" dirty="0"/>
                  <a:t>：训练文本总数</a:t>
                </a:r>
                <a:r>
                  <a:rPr lang="en-US" altLang="zh-CN" dirty="0"/>
                  <a:t>;</a:t>
                </a:r>
              </a:p>
              <a:p>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𝑛</m:t>
                        </m:r>
                      </m:e>
                      <m:sub>
                        <m:r>
                          <a:rPr lang="en-US" altLang="zh-CN" i="1" smtClean="0">
                            <a:latin typeface="Cambria Math" panose="02040503050406030204" pitchFamily="18" charset="0"/>
                          </a:rPr>
                          <m:t>𝑡</m:t>
                        </m:r>
                      </m:sub>
                    </m:sSub>
                  </m:oMath>
                </a14:m>
                <a:r>
                  <a:rPr lang="zh-CN" altLang="en-US" dirty="0"/>
                  <a:t>：训练文本集中出现</a:t>
                </a:r>
                <a:r>
                  <a:rPr lang="en-US" altLang="zh-CN" dirty="0"/>
                  <a:t>t</a:t>
                </a:r>
                <a:r>
                  <a:rPr lang="zh-CN" altLang="en-US" dirty="0"/>
                  <a:t>的文本数。</a:t>
                </a:r>
              </a:p>
              <a:p>
                <a:endParaRPr lang="zh-CN" altLang="en-US" dirty="0"/>
              </a:p>
            </p:txBody>
          </p:sp>
        </mc:Choice>
        <mc:Fallback>
          <p:sp>
            <p:nvSpPr>
              <p:cNvPr id="11" name="文本框 10"/>
              <p:cNvSpPr txBox="1">
                <a:spLocks noRot="1" noChangeAspect="1" noMove="1" noResize="1" noEditPoints="1" noAdjustHandles="1" noChangeArrowheads="1" noChangeShapeType="1" noTextEdit="1"/>
              </p:cNvSpPr>
              <p:nvPr/>
            </p:nvSpPr>
            <p:spPr>
              <a:xfrm>
                <a:off x="2444436" y="4436198"/>
                <a:ext cx="7134130" cy="1499578"/>
              </a:xfrm>
              <a:prstGeom prst="rect">
                <a:avLst/>
              </a:prstGeom>
              <a:blipFill rotWithShape="1">
                <a:blip r:embed="rId2"/>
                <a:stretch>
                  <a:fillRect l="-769" t="-2439"/>
                </a:stretch>
              </a:blipFill>
            </p:spPr>
            <p:txBody>
              <a:bodyPr/>
              <a:lstStyle/>
              <a:p>
                <a:r>
                  <a:rPr lang="zh-CN" altLang="en-US">
                    <a:noFill/>
                  </a:rPr>
                  <a:t> </a:t>
                </a:r>
              </a:p>
            </p:txBody>
          </p:sp>
        </mc:Fallback>
      </mc:AlternateContent>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01</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用户兴趣建模</a:t>
              </a:r>
            </a:p>
          </p:txBody>
        </p:sp>
      </p:grpSp>
      <p:sp>
        <p:nvSpPr>
          <p:cNvPr id="2" name="椭圆 1"/>
          <p:cNvSpPr/>
          <p:nvPr/>
        </p:nvSpPr>
        <p:spPr>
          <a:xfrm>
            <a:off x="1930400" y="2220687"/>
            <a:ext cx="1872341" cy="18723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5174343" y="2220687"/>
            <a:ext cx="1872341" cy="18723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8418285" y="2220687"/>
            <a:ext cx="1872341" cy="18723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加号 8"/>
          <p:cNvSpPr/>
          <p:nvPr/>
        </p:nvSpPr>
        <p:spPr>
          <a:xfrm>
            <a:off x="3999151" y="2648857"/>
            <a:ext cx="1016000" cy="1016000"/>
          </a:xfrm>
          <a:prstGeom prst="mathPlus">
            <a:avLst>
              <a:gd name="adj1" fmla="val 14949"/>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号 9"/>
          <p:cNvSpPr/>
          <p:nvPr/>
        </p:nvSpPr>
        <p:spPr>
          <a:xfrm>
            <a:off x="7205876" y="2648857"/>
            <a:ext cx="1016000" cy="1016000"/>
          </a:xfrm>
          <a:prstGeom prst="mathEqual">
            <a:avLst>
              <a:gd name="adj1" fmla="val 16377"/>
              <a:gd name="adj2" fmla="val 1176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10"/>
          <p:cNvSpPr/>
          <p:nvPr/>
        </p:nvSpPr>
        <p:spPr>
          <a:xfrm>
            <a:off x="2503711" y="2828575"/>
            <a:ext cx="725718" cy="656564"/>
          </a:xfrm>
          <a:custGeom>
            <a:avLst/>
            <a:gdLst>
              <a:gd name="connsiteX0" fmla="*/ 36176 w 338659"/>
              <a:gd name="connsiteY0" fmla="*/ 196850 h 306388"/>
              <a:gd name="connsiteX1" fmla="*/ 24334 w 338659"/>
              <a:gd name="connsiteY1" fmla="*/ 256577 h 306388"/>
              <a:gd name="connsiteX2" fmla="*/ 116438 w 338659"/>
              <a:gd name="connsiteY2" fmla="*/ 277813 h 306388"/>
              <a:gd name="connsiteX3" fmla="*/ 170384 w 338659"/>
              <a:gd name="connsiteY3" fmla="*/ 261886 h 306388"/>
              <a:gd name="connsiteX4" fmla="*/ 170384 w 338659"/>
              <a:gd name="connsiteY4" fmla="*/ 203486 h 306388"/>
              <a:gd name="connsiteX5" fmla="*/ 116438 w 338659"/>
              <a:gd name="connsiteY5" fmla="*/ 219414 h 306388"/>
              <a:gd name="connsiteX6" fmla="*/ 108543 w 338659"/>
              <a:gd name="connsiteY6" fmla="*/ 219414 h 306388"/>
              <a:gd name="connsiteX7" fmla="*/ 36176 w 338659"/>
              <a:gd name="connsiteY7" fmla="*/ 196850 h 306388"/>
              <a:gd name="connsiteX8" fmla="*/ 205528 w 338659"/>
              <a:gd name="connsiteY8" fmla="*/ 193675 h 306388"/>
              <a:gd name="connsiteX9" fmla="*/ 198959 w 338659"/>
              <a:gd name="connsiteY9" fmla="*/ 196321 h 306388"/>
              <a:gd name="connsiteX10" fmla="*/ 198959 w 338659"/>
              <a:gd name="connsiteY10" fmla="*/ 253207 h 306388"/>
              <a:gd name="connsiteX11" fmla="*/ 200273 w 338659"/>
              <a:gd name="connsiteY11" fmla="*/ 253207 h 306388"/>
              <a:gd name="connsiteX12" fmla="*/ 202901 w 338659"/>
              <a:gd name="connsiteY12" fmla="*/ 253207 h 306388"/>
              <a:gd name="connsiteX13" fmla="*/ 205528 w 338659"/>
              <a:gd name="connsiteY13" fmla="*/ 253207 h 306388"/>
              <a:gd name="connsiteX14" fmla="*/ 310632 w 338659"/>
              <a:gd name="connsiteY14" fmla="*/ 280988 h 306388"/>
              <a:gd name="connsiteX15" fmla="*/ 313259 w 338659"/>
              <a:gd name="connsiteY15" fmla="*/ 218811 h 306388"/>
              <a:gd name="connsiteX16" fmla="*/ 205528 w 338659"/>
              <a:gd name="connsiteY16" fmla="*/ 193675 h 306388"/>
              <a:gd name="connsiteX17" fmla="*/ 224038 w 338659"/>
              <a:gd name="connsiteY17" fmla="*/ 128588 h 306388"/>
              <a:gd name="connsiteX18" fmla="*/ 198959 w 338659"/>
              <a:gd name="connsiteY18" fmla="*/ 135203 h 306388"/>
              <a:gd name="connsiteX19" fmla="*/ 198959 w 338659"/>
              <a:gd name="connsiteY19" fmla="*/ 169599 h 306388"/>
              <a:gd name="connsiteX20" fmla="*/ 201599 w 338659"/>
              <a:gd name="connsiteY20" fmla="*/ 168276 h 306388"/>
              <a:gd name="connsiteX21" fmla="*/ 208199 w 338659"/>
              <a:gd name="connsiteY21" fmla="*/ 168276 h 306388"/>
              <a:gd name="connsiteX22" fmla="*/ 315114 w 338659"/>
              <a:gd name="connsiteY22" fmla="*/ 192088 h 306388"/>
              <a:gd name="connsiteX23" fmla="*/ 316434 w 338659"/>
              <a:gd name="connsiteY23" fmla="*/ 157692 h 306388"/>
              <a:gd name="connsiteX24" fmla="*/ 224038 w 338659"/>
              <a:gd name="connsiteY24" fmla="*/ 128588 h 306388"/>
              <a:gd name="connsiteX25" fmla="*/ 221011 w 338659"/>
              <a:gd name="connsiteY25" fmla="*/ 107679 h 306388"/>
              <a:gd name="connsiteX26" fmla="*/ 227621 w 338659"/>
              <a:gd name="connsiteY26" fmla="*/ 107679 h 306388"/>
              <a:gd name="connsiteX27" fmla="*/ 330728 w 338659"/>
              <a:gd name="connsiteY27" fmla="*/ 139262 h 306388"/>
              <a:gd name="connsiteX28" fmla="*/ 338659 w 338659"/>
              <a:gd name="connsiteY28" fmla="*/ 151106 h 306388"/>
              <a:gd name="connsiteX29" fmla="*/ 332050 w 338659"/>
              <a:gd name="connsiteY29" fmla="*/ 295861 h 306388"/>
              <a:gd name="connsiteX30" fmla="*/ 326762 w 338659"/>
              <a:gd name="connsiteY30" fmla="*/ 303756 h 306388"/>
              <a:gd name="connsiteX31" fmla="*/ 320153 w 338659"/>
              <a:gd name="connsiteY31" fmla="*/ 306388 h 306388"/>
              <a:gd name="connsiteX32" fmla="*/ 317509 w 338659"/>
              <a:gd name="connsiteY32" fmla="*/ 305072 h 306388"/>
              <a:gd name="connsiteX33" fmla="*/ 202505 w 338659"/>
              <a:gd name="connsiteY33" fmla="*/ 274805 h 306388"/>
              <a:gd name="connsiteX34" fmla="*/ 120548 w 338659"/>
              <a:gd name="connsiteY34" fmla="*/ 298492 h 306388"/>
              <a:gd name="connsiteX35" fmla="*/ 115260 w 338659"/>
              <a:gd name="connsiteY35" fmla="*/ 299808 h 306388"/>
              <a:gd name="connsiteX36" fmla="*/ 8187 w 338659"/>
              <a:gd name="connsiteY36" fmla="*/ 274805 h 306388"/>
              <a:gd name="connsiteX37" fmla="*/ 256 w 338659"/>
              <a:gd name="connsiteY37" fmla="*/ 262962 h 306388"/>
              <a:gd name="connsiteX38" fmla="*/ 29337 w 338659"/>
              <a:gd name="connsiteY38" fmla="*/ 120839 h 306388"/>
              <a:gd name="connsiteX39" fmla="*/ 34625 w 338659"/>
              <a:gd name="connsiteY39" fmla="*/ 114259 h 306388"/>
              <a:gd name="connsiteX40" fmla="*/ 42556 w 338659"/>
              <a:gd name="connsiteY40" fmla="*/ 112943 h 306388"/>
              <a:gd name="connsiteX41" fmla="*/ 50487 w 338659"/>
              <a:gd name="connsiteY41" fmla="*/ 115575 h 306388"/>
              <a:gd name="connsiteX42" fmla="*/ 59741 w 338659"/>
              <a:gd name="connsiteY42" fmla="*/ 130050 h 306388"/>
              <a:gd name="connsiteX43" fmla="*/ 67672 w 338659"/>
              <a:gd name="connsiteY43" fmla="*/ 140578 h 306388"/>
              <a:gd name="connsiteX44" fmla="*/ 47844 w 338659"/>
              <a:gd name="connsiteY44" fmla="*/ 136630 h 306388"/>
              <a:gd name="connsiteX45" fmla="*/ 41234 w 338659"/>
              <a:gd name="connsiteY45" fmla="*/ 170845 h 306388"/>
              <a:gd name="connsiteX46" fmla="*/ 112616 w 338659"/>
              <a:gd name="connsiteY46" fmla="*/ 191900 h 306388"/>
              <a:gd name="connsiteX47" fmla="*/ 170779 w 338659"/>
              <a:gd name="connsiteY47" fmla="*/ 176109 h 306388"/>
              <a:gd name="connsiteX48" fmla="*/ 170779 w 338659"/>
              <a:gd name="connsiteY48" fmla="*/ 143210 h 306388"/>
              <a:gd name="connsiteX49" fmla="*/ 152273 w 338659"/>
              <a:gd name="connsiteY49" fmla="*/ 148474 h 306388"/>
              <a:gd name="connsiteX50" fmla="*/ 165492 w 338659"/>
              <a:gd name="connsiteY50" fmla="*/ 130050 h 306388"/>
              <a:gd name="connsiteX51" fmla="*/ 170779 w 338659"/>
              <a:gd name="connsiteY51" fmla="*/ 120839 h 306388"/>
              <a:gd name="connsiteX52" fmla="*/ 221011 w 338659"/>
              <a:gd name="connsiteY52" fmla="*/ 107679 h 306388"/>
              <a:gd name="connsiteX53" fmla="*/ 113235 w 338659"/>
              <a:gd name="connsiteY53" fmla="*/ 38100 h 306388"/>
              <a:gd name="connsiteX54" fmla="*/ 92597 w 338659"/>
              <a:gd name="connsiteY54" fmla="*/ 60325 h 306388"/>
              <a:gd name="connsiteX55" fmla="*/ 113235 w 338659"/>
              <a:gd name="connsiteY55" fmla="*/ 82550 h 306388"/>
              <a:gd name="connsiteX56" fmla="*/ 133873 w 338659"/>
              <a:gd name="connsiteY56" fmla="*/ 60325 h 306388"/>
              <a:gd name="connsiteX57" fmla="*/ 113235 w 338659"/>
              <a:gd name="connsiteY57" fmla="*/ 38100 h 306388"/>
              <a:gd name="connsiteX58" fmla="*/ 113234 w 338659"/>
              <a:gd name="connsiteY58" fmla="*/ 0 h 306388"/>
              <a:gd name="connsiteX59" fmla="*/ 176734 w 338659"/>
              <a:gd name="connsiteY59" fmla="*/ 63699 h 306388"/>
              <a:gd name="connsiteX60" fmla="*/ 117203 w 338659"/>
              <a:gd name="connsiteY60" fmla="*/ 168536 h 306388"/>
              <a:gd name="connsiteX61" fmla="*/ 113234 w 338659"/>
              <a:gd name="connsiteY61" fmla="*/ 169863 h 306388"/>
              <a:gd name="connsiteX62" fmla="*/ 109265 w 338659"/>
              <a:gd name="connsiteY62" fmla="*/ 168536 h 306388"/>
              <a:gd name="connsiteX63" fmla="*/ 49734 w 338659"/>
              <a:gd name="connsiteY63" fmla="*/ 63699 h 306388"/>
              <a:gd name="connsiteX64" fmla="*/ 113234 w 338659"/>
              <a:gd name="connsiteY64" fmla="*/ 0 h 306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8659" h="306388">
                <a:moveTo>
                  <a:pt x="36176" y="196850"/>
                </a:moveTo>
                <a:cubicBezTo>
                  <a:pt x="36176" y="196850"/>
                  <a:pt x="36176" y="196850"/>
                  <a:pt x="24334" y="256577"/>
                </a:cubicBezTo>
                <a:cubicBezTo>
                  <a:pt x="24334" y="256577"/>
                  <a:pt x="24334" y="256577"/>
                  <a:pt x="116438" y="277813"/>
                </a:cubicBezTo>
                <a:cubicBezTo>
                  <a:pt x="116438" y="277813"/>
                  <a:pt x="116438" y="277813"/>
                  <a:pt x="170384" y="261886"/>
                </a:cubicBezTo>
                <a:lnTo>
                  <a:pt x="170384" y="203486"/>
                </a:lnTo>
                <a:cubicBezTo>
                  <a:pt x="170384" y="203486"/>
                  <a:pt x="170384" y="203486"/>
                  <a:pt x="116438" y="219414"/>
                </a:cubicBezTo>
                <a:cubicBezTo>
                  <a:pt x="113806" y="219414"/>
                  <a:pt x="111175" y="219414"/>
                  <a:pt x="108543" y="219414"/>
                </a:cubicBezTo>
                <a:cubicBezTo>
                  <a:pt x="108543" y="219414"/>
                  <a:pt x="108543" y="219414"/>
                  <a:pt x="36176" y="196850"/>
                </a:cubicBezTo>
                <a:close/>
                <a:moveTo>
                  <a:pt x="205528" y="193675"/>
                </a:moveTo>
                <a:cubicBezTo>
                  <a:pt x="205528" y="193675"/>
                  <a:pt x="205528" y="193675"/>
                  <a:pt x="198959" y="196321"/>
                </a:cubicBezTo>
                <a:cubicBezTo>
                  <a:pt x="198959" y="196321"/>
                  <a:pt x="198959" y="196321"/>
                  <a:pt x="198959" y="253207"/>
                </a:cubicBezTo>
                <a:cubicBezTo>
                  <a:pt x="198959" y="253207"/>
                  <a:pt x="198959" y="253207"/>
                  <a:pt x="200273" y="253207"/>
                </a:cubicBezTo>
                <a:cubicBezTo>
                  <a:pt x="200273" y="253207"/>
                  <a:pt x="201587" y="253207"/>
                  <a:pt x="202901" y="253207"/>
                </a:cubicBezTo>
                <a:cubicBezTo>
                  <a:pt x="204214" y="253207"/>
                  <a:pt x="204214" y="253207"/>
                  <a:pt x="205528" y="253207"/>
                </a:cubicBezTo>
                <a:cubicBezTo>
                  <a:pt x="205528" y="253207"/>
                  <a:pt x="205528" y="253207"/>
                  <a:pt x="310632" y="280988"/>
                </a:cubicBezTo>
                <a:lnTo>
                  <a:pt x="313259" y="218811"/>
                </a:lnTo>
                <a:cubicBezTo>
                  <a:pt x="313259" y="218811"/>
                  <a:pt x="313259" y="218811"/>
                  <a:pt x="205528" y="193675"/>
                </a:cubicBezTo>
                <a:close/>
                <a:moveTo>
                  <a:pt x="224038" y="128588"/>
                </a:moveTo>
                <a:cubicBezTo>
                  <a:pt x="224038" y="128588"/>
                  <a:pt x="224038" y="128588"/>
                  <a:pt x="198959" y="135203"/>
                </a:cubicBezTo>
                <a:cubicBezTo>
                  <a:pt x="198959" y="135203"/>
                  <a:pt x="198959" y="135203"/>
                  <a:pt x="198959" y="169599"/>
                </a:cubicBezTo>
                <a:cubicBezTo>
                  <a:pt x="198959" y="169599"/>
                  <a:pt x="198959" y="169599"/>
                  <a:pt x="201599" y="168276"/>
                </a:cubicBezTo>
                <a:cubicBezTo>
                  <a:pt x="204239" y="168276"/>
                  <a:pt x="205559" y="166953"/>
                  <a:pt x="208199" y="168276"/>
                </a:cubicBezTo>
                <a:cubicBezTo>
                  <a:pt x="208199" y="168276"/>
                  <a:pt x="208199" y="168276"/>
                  <a:pt x="315114" y="192088"/>
                </a:cubicBezTo>
                <a:lnTo>
                  <a:pt x="316434" y="157692"/>
                </a:lnTo>
                <a:cubicBezTo>
                  <a:pt x="316434" y="157692"/>
                  <a:pt x="316434" y="157692"/>
                  <a:pt x="224038" y="128588"/>
                </a:cubicBezTo>
                <a:close/>
                <a:moveTo>
                  <a:pt x="221011" y="107679"/>
                </a:moveTo>
                <a:cubicBezTo>
                  <a:pt x="223655" y="106363"/>
                  <a:pt x="224977" y="106363"/>
                  <a:pt x="227621" y="107679"/>
                </a:cubicBezTo>
                <a:cubicBezTo>
                  <a:pt x="227621" y="107679"/>
                  <a:pt x="227621" y="107679"/>
                  <a:pt x="330728" y="139262"/>
                </a:cubicBezTo>
                <a:cubicBezTo>
                  <a:pt x="336015" y="140578"/>
                  <a:pt x="338659" y="145842"/>
                  <a:pt x="338659" y="151106"/>
                </a:cubicBezTo>
                <a:cubicBezTo>
                  <a:pt x="338659" y="151106"/>
                  <a:pt x="338659" y="151106"/>
                  <a:pt x="332050" y="295861"/>
                </a:cubicBezTo>
                <a:cubicBezTo>
                  <a:pt x="330728" y="298492"/>
                  <a:pt x="329406" y="302440"/>
                  <a:pt x="326762" y="303756"/>
                </a:cubicBezTo>
                <a:cubicBezTo>
                  <a:pt x="325440" y="305072"/>
                  <a:pt x="322796" y="306388"/>
                  <a:pt x="320153" y="306388"/>
                </a:cubicBezTo>
                <a:cubicBezTo>
                  <a:pt x="320153" y="306388"/>
                  <a:pt x="318831" y="306388"/>
                  <a:pt x="317509" y="305072"/>
                </a:cubicBezTo>
                <a:cubicBezTo>
                  <a:pt x="317509" y="305072"/>
                  <a:pt x="317509" y="305072"/>
                  <a:pt x="202505" y="274805"/>
                </a:cubicBezTo>
                <a:cubicBezTo>
                  <a:pt x="202505" y="274805"/>
                  <a:pt x="202505" y="274805"/>
                  <a:pt x="120548" y="298492"/>
                </a:cubicBezTo>
                <a:cubicBezTo>
                  <a:pt x="119226" y="299808"/>
                  <a:pt x="116582" y="299808"/>
                  <a:pt x="115260" y="299808"/>
                </a:cubicBezTo>
                <a:cubicBezTo>
                  <a:pt x="115260" y="299808"/>
                  <a:pt x="115260" y="299808"/>
                  <a:pt x="8187" y="274805"/>
                </a:cubicBezTo>
                <a:cubicBezTo>
                  <a:pt x="2900" y="274805"/>
                  <a:pt x="-1066" y="268225"/>
                  <a:pt x="256" y="262962"/>
                </a:cubicBezTo>
                <a:cubicBezTo>
                  <a:pt x="256" y="262962"/>
                  <a:pt x="256" y="262962"/>
                  <a:pt x="29337" y="120839"/>
                </a:cubicBezTo>
                <a:cubicBezTo>
                  <a:pt x="29337" y="118207"/>
                  <a:pt x="31981" y="115575"/>
                  <a:pt x="34625" y="114259"/>
                </a:cubicBezTo>
                <a:cubicBezTo>
                  <a:pt x="35947" y="112943"/>
                  <a:pt x="39912" y="111627"/>
                  <a:pt x="42556" y="112943"/>
                </a:cubicBezTo>
                <a:cubicBezTo>
                  <a:pt x="42556" y="112943"/>
                  <a:pt x="42556" y="112943"/>
                  <a:pt x="50487" y="115575"/>
                </a:cubicBezTo>
                <a:cubicBezTo>
                  <a:pt x="53131" y="119523"/>
                  <a:pt x="57097" y="124786"/>
                  <a:pt x="59741" y="130050"/>
                </a:cubicBezTo>
                <a:cubicBezTo>
                  <a:pt x="62384" y="133998"/>
                  <a:pt x="65028" y="137946"/>
                  <a:pt x="67672" y="140578"/>
                </a:cubicBezTo>
                <a:cubicBezTo>
                  <a:pt x="67672" y="140578"/>
                  <a:pt x="67672" y="140578"/>
                  <a:pt x="47844" y="136630"/>
                </a:cubicBezTo>
                <a:cubicBezTo>
                  <a:pt x="47844" y="136630"/>
                  <a:pt x="47844" y="136630"/>
                  <a:pt x="41234" y="170845"/>
                </a:cubicBezTo>
                <a:cubicBezTo>
                  <a:pt x="41234" y="170845"/>
                  <a:pt x="41234" y="170845"/>
                  <a:pt x="112616" y="191900"/>
                </a:cubicBezTo>
                <a:cubicBezTo>
                  <a:pt x="112616" y="191900"/>
                  <a:pt x="112616" y="191900"/>
                  <a:pt x="170779" y="176109"/>
                </a:cubicBezTo>
                <a:cubicBezTo>
                  <a:pt x="170779" y="176109"/>
                  <a:pt x="170779" y="176109"/>
                  <a:pt x="170779" y="143210"/>
                </a:cubicBezTo>
                <a:cubicBezTo>
                  <a:pt x="170779" y="143210"/>
                  <a:pt x="170779" y="143210"/>
                  <a:pt x="152273" y="148474"/>
                </a:cubicBezTo>
                <a:cubicBezTo>
                  <a:pt x="156239" y="143210"/>
                  <a:pt x="160204" y="136630"/>
                  <a:pt x="165492" y="130050"/>
                </a:cubicBezTo>
                <a:cubicBezTo>
                  <a:pt x="166814" y="126102"/>
                  <a:pt x="168136" y="123471"/>
                  <a:pt x="170779" y="120839"/>
                </a:cubicBezTo>
                <a:cubicBezTo>
                  <a:pt x="170779" y="120839"/>
                  <a:pt x="170779" y="120839"/>
                  <a:pt x="221011" y="107679"/>
                </a:cubicBezTo>
                <a:close/>
                <a:moveTo>
                  <a:pt x="113235" y="38100"/>
                </a:moveTo>
                <a:cubicBezTo>
                  <a:pt x="101837" y="38100"/>
                  <a:pt x="92597" y="48050"/>
                  <a:pt x="92597" y="60325"/>
                </a:cubicBezTo>
                <a:cubicBezTo>
                  <a:pt x="92597" y="72600"/>
                  <a:pt x="101837" y="82550"/>
                  <a:pt x="113235" y="82550"/>
                </a:cubicBezTo>
                <a:cubicBezTo>
                  <a:pt x="124633" y="82550"/>
                  <a:pt x="133873" y="72600"/>
                  <a:pt x="133873" y="60325"/>
                </a:cubicBezTo>
                <a:cubicBezTo>
                  <a:pt x="133873" y="48050"/>
                  <a:pt x="124633" y="38100"/>
                  <a:pt x="113235" y="38100"/>
                </a:cubicBezTo>
                <a:close/>
                <a:moveTo>
                  <a:pt x="113234" y="0"/>
                </a:moveTo>
                <a:cubicBezTo>
                  <a:pt x="147630" y="0"/>
                  <a:pt x="176734" y="29195"/>
                  <a:pt x="176734" y="63699"/>
                </a:cubicBezTo>
                <a:cubicBezTo>
                  <a:pt x="176734" y="92894"/>
                  <a:pt x="131755" y="151284"/>
                  <a:pt x="117203" y="168536"/>
                </a:cubicBezTo>
                <a:cubicBezTo>
                  <a:pt x="115880" y="169863"/>
                  <a:pt x="114557" y="169863"/>
                  <a:pt x="113234" y="169863"/>
                </a:cubicBezTo>
                <a:cubicBezTo>
                  <a:pt x="111911" y="169863"/>
                  <a:pt x="109265" y="169863"/>
                  <a:pt x="109265" y="168536"/>
                </a:cubicBezTo>
                <a:cubicBezTo>
                  <a:pt x="94713" y="151284"/>
                  <a:pt x="49734" y="92894"/>
                  <a:pt x="49734" y="63699"/>
                </a:cubicBezTo>
                <a:cubicBezTo>
                  <a:pt x="49734" y="29195"/>
                  <a:pt x="77515" y="0"/>
                  <a:pt x="11323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椭圆 11"/>
          <p:cNvSpPr/>
          <p:nvPr/>
        </p:nvSpPr>
        <p:spPr>
          <a:xfrm>
            <a:off x="5747654" y="2795701"/>
            <a:ext cx="725718" cy="722313"/>
          </a:xfrm>
          <a:custGeom>
            <a:avLst/>
            <a:gdLst>
              <a:gd name="connsiteX0" fmla="*/ 165100 w 338137"/>
              <a:gd name="connsiteY0" fmla="*/ 119063 h 336551"/>
              <a:gd name="connsiteX1" fmla="*/ 180898 w 338137"/>
              <a:gd name="connsiteY1" fmla="*/ 121696 h 336551"/>
              <a:gd name="connsiteX2" fmla="*/ 163784 w 338137"/>
              <a:gd name="connsiteY2" fmla="*/ 138810 h 336551"/>
              <a:gd name="connsiteX3" fmla="*/ 130872 w 338137"/>
              <a:gd name="connsiteY3" fmla="*/ 173038 h 336551"/>
              <a:gd name="connsiteX4" fmla="*/ 165100 w 338137"/>
              <a:gd name="connsiteY4" fmla="*/ 207266 h 336551"/>
              <a:gd name="connsiteX5" fmla="*/ 199328 w 338137"/>
              <a:gd name="connsiteY5" fmla="*/ 174354 h 336551"/>
              <a:gd name="connsiteX6" fmla="*/ 216442 w 338137"/>
              <a:gd name="connsiteY6" fmla="*/ 157240 h 336551"/>
              <a:gd name="connsiteX7" fmla="*/ 219075 w 338137"/>
              <a:gd name="connsiteY7" fmla="*/ 173038 h 336551"/>
              <a:gd name="connsiteX8" fmla="*/ 165100 w 338137"/>
              <a:gd name="connsiteY8" fmla="*/ 227013 h 336551"/>
              <a:gd name="connsiteX9" fmla="*/ 111125 w 338137"/>
              <a:gd name="connsiteY9" fmla="*/ 173038 h 336551"/>
              <a:gd name="connsiteX10" fmla="*/ 165100 w 338137"/>
              <a:gd name="connsiteY10" fmla="*/ 119063 h 336551"/>
              <a:gd name="connsiteX11" fmla="*/ 165100 w 338137"/>
              <a:gd name="connsiteY11" fmla="*/ 65088 h 336551"/>
              <a:gd name="connsiteX12" fmla="*/ 221708 w 338137"/>
              <a:gd name="connsiteY12" fmla="*/ 80886 h 336551"/>
              <a:gd name="connsiteX13" fmla="*/ 207227 w 338137"/>
              <a:gd name="connsiteY13" fmla="*/ 95367 h 336551"/>
              <a:gd name="connsiteX14" fmla="*/ 165100 w 338137"/>
              <a:gd name="connsiteY14" fmla="*/ 84835 h 336551"/>
              <a:gd name="connsiteX15" fmla="*/ 76897 w 338137"/>
              <a:gd name="connsiteY15" fmla="*/ 173038 h 336551"/>
              <a:gd name="connsiteX16" fmla="*/ 165100 w 338137"/>
              <a:gd name="connsiteY16" fmla="*/ 261241 h 336551"/>
              <a:gd name="connsiteX17" fmla="*/ 253303 w 338137"/>
              <a:gd name="connsiteY17" fmla="*/ 173038 h 336551"/>
              <a:gd name="connsiteX18" fmla="*/ 242771 w 338137"/>
              <a:gd name="connsiteY18" fmla="*/ 130911 h 336551"/>
              <a:gd name="connsiteX19" fmla="*/ 257252 w 338137"/>
              <a:gd name="connsiteY19" fmla="*/ 116430 h 336551"/>
              <a:gd name="connsiteX20" fmla="*/ 273050 w 338137"/>
              <a:gd name="connsiteY20" fmla="*/ 173038 h 336551"/>
              <a:gd name="connsiteX21" fmla="*/ 165100 w 338137"/>
              <a:gd name="connsiteY21" fmla="*/ 280988 h 336551"/>
              <a:gd name="connsiteX22" fmla="*/ 57150 w 338137"/>
              <a:gd name="connsiteY22" fmla="*/ 173038 h 336551"/>
              <a:gd name="connsiteX23" fmla="*/ 165100 w 338137"/>
              <a:gd name="connsiteY23" fmla="*/ 65088 h 336551"/>
              <a:gd name="connsiteX24" fmla="*/ 165100 w 338137"/>
              <a:gd name="connsiteY24" fmla="*/ 7938 h 336551"/>
              <a:gd name="connsiteX25" fmla="*/ 249631 w 338137"/>
              <a:gd name="connsiteY25" fmla="*/ 31598 h 336551"/>
              <a:gd name="connsiteX26" fmla="*/ 235102 w 338137"/>
              <a:gd name="connsiteY26" fmla="*/ 46057 h 336551"/>
              <a:gd name="connsiteX27" fmla="*/ 165100 w 338137"/>
              <a:gd name="connsiteY27" fmla="*/ 27655 h 336551"/>
              <a:gd name="connsiteX28" fmla="*/ 19812 w 338137"/>
              <a:gd name="connsiteY28" fmla="*/ 172245 h 336551"/>
              <a:gd name="connsiteX29" fmla="*/ 165100 w 338137"/>
              <a:gd name="connsiteY29" fmla="*/ 316834 h 336551"/>
              <a:gd name="connsiteX30" fmla="*/ 310388 w 338137"/>
              <a:gd name="connsiteY30" fmla="*/ 172245 h 336551"/>
              <a:gd name="connsiteX31" fmla="*/ 291897 w 338137"/>
              <a:gd name="connsiteY31" fmla="*/ 102579 h 336551"/>
              <a:gd name="connsiteX32" fmla="*/ 306426 w 338137"/>
              <a:gd name="connsiteY32" fmla="*/ 88120 h 336551"/>
              <a:gd name="connsiteX33" fmla="*/ 330200 w 338137"/>
              <a:gd name="connsiteY33" fmla="*/ 172245 h 336551"/>
              <a:gd name="connsiteX34" fmla="*/ 165100 w 338137"/>
              <a:gd name="connsiteY34" fmla="*/ 336551 h 336551"/>
              <a:gd name="connsiteX35" fmla="*/ 0 w 338137"/>
              <a:gd name="connsiteY35" fmla="*/ 172245 h 336551"/>
              <a:gd name="connsiteX36" fmla="*/ 165100 w 338137"/>
              <a:gd name="connsiteY36" fmla="*/ 7938 h 336551"/>
              <a:gd name="connsiteX37" fmla="*/ 302622 w 338137"/>
              <a:gd name="connsiteY37" fmla="*/ 0 h 336551"/>
              <a:gd name="connsiteX38" fmla="*/ 310515 w 338137"/>
              <a:gd name="connsiteY38" fmla="*/ 27623 h 336551"/>
              <a:gd name="connsiteX39" fmla="*/ 338137 w 338137"/>
              <a:gd name="connsiteY39" fmla="*/ 35515 h 336551"/>
              <a:gd name="connsiteX40" fmla="*/ 285523 w 338137"/>
              <a:gd name="connsiteY40" fmla="*/ 88129 h 336551"/>
              <a:gd name="connsiteX41" fmla="*/ 265792 w 338137"/>
              <a:gd name="connsiteY41" fmla="*/ 85498 h 336551"/>
              <a:gd name="connsiteX42" fmla="*/ 172402 w 338137"/>
              <a:gd name="connsiteY42" fmla="*/ 180204 h 336551"/>
              <a:gd name="connsiteX43" fmla="*/ 157933 w 338137"/>
              <a:gd name="connsiteY43" fmla="*/ 180204 h 336551"/>
              <a:gd name="connsiteX44" fmla="*/ 157933 w 338137"/>
              <a:gd name="connsiteY44" fmla="*/ 165735 h 336551"/>
              <a:gd name="connsiteX45" fmla="*/ 252639 w 338137"/>
              <a:gd name="connsiteY45" fmla="*/ 72345 h 336551"/>
              <a:gd name="connsiteX46" fmla="*/ 250008 w 338137"/>
              <a:gd name="connsiteY46" fmla="*/ 52614 h 336551"/>
              <a:gd name="connsiteX47" fmla="*/ 302622 w 338137"/>
              <a:gd name="connsiteY47"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38137" h="336551">
                <a:moveTo>
                  <a:pt x="165100" y="119063"/>
                </a:moveTo>
                <a:cubicBezTo>
                  <a:pt x="170366" y="119063"/>
                  <a:pt x="175632" y="120379"/>
                  <a:pt x="180898" y="121696"/>
                </a:cubicBezTo>
                <a:cubicBezTo>
                  <a:pt x="180898" y="121696"/>
                  <a:pt x="180898" y="121696"/>
                  <a:pt x="163784" y="138810"/>
                </a:cubicBezTo>
                <a:cubicBezTo>
                  <a:pt x="145353" y="140126"/>
                  <a:pt x="130872" y="154608"/>
                  <a:pt x="130872" y="173038"/>
                </a:cubicBezTo>
                <a:cubicBezTo>
                  <a:pt x="130872" y="191468"/>
                  <a:pt x="146669" y="207266"/>
                  <a:pt x="165100" y="207266"/>
                </a:cubicBezTo>
                <a:cubicBezTo>
                  <a:pt x="183531" y="207266"/>
                  <a:pt x="198012" y="192785"/>
                  <a:pt x="199328" y="174354"/>
                </a:cubicBezTo>
                <a:cubicBezTo>
                  <a:pt x="199328" y="174354"/>
                  <a:pt x="199328" y="174354"/>
                  <a:pt x="216442" y="157240"/>
                </a:cubicBezTo>
                <a:cubicBezTo>
                  <a:pt x="217759" y="162506"/>
                  <a:pt x="219075" y="167772"/>
                  <a:pt x="219075" y="173038"/>
                </a:cubicBezTo>
                <a:cubicBezTo>
                  <a:pt x="219075" y="203317"/>
                  <a:pt x="195379" y="227013"/>
                  <a:pt x="165100" y="227013"/>
                </a:cubicBezTo>
                <a:cubicBezTo>
                  <a:pt x="134821" y="227013"/>
                  <a:pt x="111125" y="203317"/>
                  <a:pt x="111125" y="173038"/>
                </a:cubicBezTo>
                <a:cubicBezTo>
                  <a:pt x="111125" y="142759"/>
                  <a:pt x="134821" y="119063"/>
                  <a:pt x="165100" y="119063"/>
                </a:cubicBezTo>
                <a:close/>
                <a:moveTo>
                  <a:pt x="165100" y="65088"/>
                </a:moveTo>
                <a:cubicBezTo>
                  <a:pt x="186163" y="65088"/>
                  <a:pt x="205910" y="70354"/>
                  <a:pt x="221708" y="80886"/>
                </a:cubicBezTo>
                <a:cubicBezTo>
                  <a:pt x="221708" y="80886"/>
                  <a:pt x="221708" y="80886"/>
                  <a:pt x="207227" y="95367"/>
                </a:cubicBezTo>
                <a:cubicBezTo>
                  <a:pt x="195379" y="88784"/>
                  <a:pt x="180898" y="84835"/>
                  <a:pt x="165100" y="84835"/>
                </a:cubicBezTo>
                <a:cubicBezTo>
                  <a:pt x="116391" y="84835"/>
                  <a:pt x="76897" y="124329"/>
                  <a:pt x="76897" y="173038"/>
                </a:cubicBezTo>
                <a:cubicBezTo>
                  <a:pt x="76897" y="221747"/>
                  <a:pt x="116391" y="261241"/>
                  <a:pt x="165100" y="261241"/>
                </a:cubicBezTo>
                <a:cubicBezTo>
                  <a:pt x="213809" y="261241"/>
                  <a:pt x="253303" y="221747"/>
                  <a:pt x="253303" y="173038"/>
                </a:cubicBezTo>
                <a:cubicBezTo>
                  <a:pt x="253303" y="157240"/>
                  <a:pt x="249354" y="142759"/>
                  <a:pt x="242771" y="130911"/>
                </a:cubicBezTo>
                <a:cubicBezTo>
                  <a:pt x="242771" y="130911"/>
                  <a:pt x="242771" y="130911"/>
                  <a:pt x="257252" y="116430"/>
                </a:cubicBezTo>
                <a:cubicBezTo>
                  <a:pt x="267784" y="132228"/>
                  <a:pt x="273050" y="151975"/>
                  <a:pt x="273050" y="173038"/>
                </a:cubicBezTo>
                <a:cubicBezTo>
                  <a:pt x="273050" y="232279"/>
                  <a:pt x="224341" y="280988"/>
                  <a:pt x="165100" y="280988"/>
                </a:cubicBezTo>
                <a:cubicBezTo>
                  <a:pt x="105859" y="280988"/>
                  <a:pt x="57150" y="232279"/>
                  <a:pt x="57150" y="173038"/>
                </a:cubicBezTo>
                <a:cubicBezTo>
                  <a:pt x="57150" y="113797"/>
                  <a:pt x="105859" y="65088"/>
                  <a:pt x="165100" y="65088"/>
                </a:cubicBezTo>
                <a:close/>
                <a:moveTo>
                  <a:pt x="165100" y="7938"/>
                </a:moveTo>
                <a:cubicBezTo>
                  <a:pt x="196799" y="7938"/>
                  <a:pt x="225857" y="15825"/>
                  <a:pt x="249631" y="31598"/>
                </a:cubicBezTo>
                <a:cubicBezTo>
                  <a:pt x="249631" y="31598"/>
                  <a:pt x="249631" y="31598"/>
                  <a:pt x="235102" y="46057"/>
                </a:cubicBezTo>
                <a:cubicBezTo>
                  <a:pt x="215290" y="34227"/>
                  <a:pt x="190195" y="27655"/>
                  <a:pt x="165100" y="27655"/>
                </a:cubicBezTo>
                <a:cubicBezTo>
                  <a:pt x="84531" y="27655"/>
                  <a:pt x="19812" y="92063"/>
                  <a:pt x="19812" y="172245"/>
                </a:cubicBezTo>
                <a:cubicBezTo>
                  <a:pt x="19812" y="252426"/>
                  <a:pt x="84531" y="316834"/>
                  <a:pt x="165100" y="316834"/>
                </a:cubicBezTo>
                <a:cubicBezTo>
                  <a:pt x="245669" y="316834"/>
                  <a:pt x="310388" y="252426"/>
                  <a:pt x="310388" y="172245"/>
                </a:cubicBezTo>
                <a:cubicBezTo>
                  <a:pt x="310388" y="147270"/>
                  <a:pt x="303784" y="122295"/>
                  <a:pt x="291897" y="102579"/>
                </a:cubicBezTo>
                <a:cubicBezTo>
                  <a:pt x="291897" y="102579"/>
                  <a:pt x="291897" y="102579"/>
                  <a:pt x="306426" y="88120"/>
                </a:cubicBezTo>
                <a:cubicBezTo>
                  <a:pt x="322275" y="111780"/>
                  <a:pt x="330200" y="140698"/>
                  <a:pt x="330200" y="172245"/>
                </a:cubicBezTo>
                <a:cubicBezTo>
                  <a:pt x="330200" y="262942"/>
                  <a:pt x="256235" y="336551"/>
                  <a:pt x="165100" y="336551"/>
                </a:cubicBezTo>
                <a:cubicBezTo>
                  <a:pt x="73965" y="336551"/>
                  <a:pt x="0" y="262942"/>
                  <a:pt x="0" y="172245"/>
                </a:cubicBezTo>
                <a:cubicBezTo>
                  <a:pt x="0" y="81547"/>
                  <a:pt x="73965" y="7938"/>
                  <a:pt x="165100" y="7938"/>
                </a:cubicBezTo>
                <a:close/>
                <a:moveTo>
                  <a:pt x="302622" y="0"/>
                </a:moveTo>
                <a:cubicBezTo>
                  <a:pt x="310515" y="27623"/>
                  <a:pt x="310515" y="27623"/>
                  <a:pt x="310515" y="27623"/>
                </a:cubicBezTo>
                <a:cubicBezTo>
                  <a:pt x="338137" y="35515"/>
                  <a:pt x="338137" y="35515"/>
                  <a:pt x="338137" y="35515"/>
                </a:cubicBezTo>
                <a:lnTo>
                  <a:pt x="285523" y="88129"/>
                </a:lnTo>
                <a:cubicBezTo>
                  <a:pt x="265792" y="85498"/>
                  <a:pt x="265792" y="85498"/>
                  <a:pt x="265792" y="85498"/>
                </a:cubicBezTo>
                <a:cubicBezTo>
                  <a:pt x="172402" y="180204"/>
                  <a:pt x="172402" y="180204"/>
                  <a:pt x="172402" y="180204"/>
                </a:cubicBezTo>
                <a:cubicBezTo>
                  <a:pt x="168456" y="184150"/>
                  <a:pt x="161879" y="184150"/>
                  <a:pt x="157933" y="180204"/>
                </a:cubicBezTo>
                <a:cubicBezTo>
                  <a:pt x="153987" y="176258"/>
                  <a:pt x="153987" y="169681"/>
                  <a:pt x="157933" y="165735"/>
                </a:cubicBezTo>
                <a:cubicBezTo>
                  <a:pt x="252639" y="72345"/>
                  <a:pt x="252639" y="72345"/>
                  <a:pt x="252639" y="72345"/>
                </a:cubicBezTo>
                <a:cubicBezTo>
                  <a:pt x="250008" y="52614"/>
                  <a:pt x="250008" y="52614"/>
                  <a:pt x="250008" y="52614"/>
                </a:cubicBezTo>
                <a:cubicBezTo>
                  <a:pt x="302622" y="0"/>
                  <a:pt x="302622" y="0"/>
                  <a:pt x="3026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 name="椭圆 12"/>
          <p:cNvSpPr/>
          <p:nvPr/>
        </p:nvSpPr>
        <p:spPr>
          <a:xfrm>
            <a:off x="9075334" y="2793998"/>
            <a:ext cx="558242" cy="725718"/>
          </a:xfrm>
          <a:custGeom>
            <a:avLst/>
            <a:gdLst>
              <a:gd name="connsiteX0" fmla="*/ 0 w 254000"/>
              <a:gd name="connsiteY0" fmla="*/ 195263 h 330201"/>
              <a:gd name="connsiteX1" fmla="*/ 55563 w 254000"/>
              <a:gd name="connsiteY1" fmla="*/ 195263 h 330201"/>
              <a:gd name="connsiteX2" fmla="*/ 55563 w 254000"/>
              <a:gd name="connsiteY2" fmla="*/ 330201 h 330201"/>
              <a:gd name="connsiteX3" fmla="*/ 0 w 254000"/>
              <a:gd name="connsiteY3" fmla="*/ 330201 h 330201"/>
              <a:gd name="connsiteX4" fmla="*/ 98425 w 254000"/>
              <a:gd name="connsiteY4" fmla="*/ 152400 h 330201"/>
              <a:gd name="connsiteX5" fmla="*/ 155575 w 254000"/>
              <a:gd name="connsiteY5" fmla="*/ 152400 h 330201"/>
              <a:gd name="connsiteX6" fmla="*/ 155575 w 254000"/>
              <a:gd name="connsiteY6" fmla="*/ 330200 h 330201"/>
              <a:gd name="connsiteX7" fmla="*/ 98425 w 254000"/>
              <a:gd name="connsiteY7" fmla="*/ 330200 h 330201"/>
              <a:gd name="connsiteX8" fmla="*/ 198437 w 254000"/>
              <a:gd name="connsiteY8" fmla="*/ 109538 h 330201"/>
              <a:gd name="connsiteX9" fmla="*/ 254000 w 254000"/>
              <a:gd name="connsiteY9" fmla="*/ 109538 h 330201"/>
              <a:gd name="connsiteX10" fmla="*/ 254000 w 254000"/>
              <a:gd name="connsiteY10" fmla="*/ 330201 h 330201"/>
              <a:gd name="connsiteX11" fmla="*/ 198437 w 254000"/>
              <a:gd name="connsiteY11" fmla="*/ 330201 h 330201"/>
              <a:gd name="connsiteX12" fmla="*/ 84304 w 254000"/>
              <a:gd name="connsiteY12" fmla="*/ 0 h 330201"/>
              <a:gd name="connsiteX13" fmla="*/ 89492 w 254000"/>
              <a:gd name="connsiteY13" fmla="*/ 2586 h 330201"/>
              <a:gd name="connsiteX14" fmla="*/ 95977 w 254000"/>
              <a:gd name="connsiteY14" fmla="*/ 19390 h 330201"/>
              <a:gd name="connsiteX15" fmla="*/ 103759 w 254000"/>
              <a:gd name="connsiteY15" fmla="*/ 23268 h 330201"/>
              <a:gd name="connsiteX16" fmla="*/ 108947 w 254000"/>
              <a:gd name="connsiteY16" fmla="*/ 19390 h 330201"/>
              <a:gd name="connsiteX17" fmla="*/ 115432 w 254000"/>
              <a:gd name="connsiteY17" fmla="*/ 3878 h 330201"/>
              <a:gd name="connsiteX18" fmla="*/ 121916 w 254000"/>
              <a:gd name="connsiteY18" fmla="*/ 1293 h 330201"/>
              <a:gd name="connsiteX19" fmla="*/ 158232 w 254000"/>
              <a:gd name="connsiteY19" fmla="*/ 18098 h 330201"/>
              <a:gd name="connsiteX20" fmla="*/ 160826 w 254000"/>
              <a:gd name="connsiteY20" fmla="*/ 24561 h 330201"/>
              <a:gd name="connsiteX21" fmla="*/ 153044 w 254000"/>
              <a:gd name="connsiteY21" fmla="*/ 40073 h 330201"/>
              <a:gd name="connsiteX22" fmla="*/ 155638 w 254000"/>
              <a:gd name="connsiteY22" fmla="*/ 49122 h 330201"/>
              <a:gd name="connsiteX23" fmla="*/ 160826 w 254000"/>
              <a:gd name="connsiteY23" fmla="*/ 49122 h 330201"/>
              <a:gd name="connsiteX24" fmla="*/ 177687 w 254000"/>
              <a:gd name="connsiteY24" fmla="*/ 43951 h 330201"/>
              <a:gd name="connsiteX25" fmla="*/ 184171 w 254000"/>
              <a:gd name="connsiteY25" fmla="*/ 46537 h 330201"/>
              <a:gd name="connsiteX26" fmla="*/ 197141 w 254000"/>
              <a:gd name="connsiteY26" fmla="*/ 84024 h 330201"/>
              <a:gd name="connsiteX27" fmla="*/ 194547 w 254000"/>
              <a:gd name="connsiteY27" fmla="*/ 89195 h 330201"/>
              <a:gd name="connsiteX28" fmla="*/ 178984 w 254000"/>
              <a:gd name="connsiteY28" fmla="*/ 95658 h 330201"/>
              <a:gd name="connsiteX29" fmla="*/ 173796 w 254000"/>
              <a:gd name="connsiteY29" fmla="*/ 99536 h 330201"/>
              <a:gd name="connsiteX30" fmla="*/ 177687 w 254000"/>
              <a:gd name="connsiteY30" fmla="*/ 108585 h 330201"/>
              <a:gd name="connsiteX31" fmla="*/ 184171 w 254000"/>
              <a:gd name="connsiteY31" fmla="*/ 111171 h 330201"/>
              <a:gd name="connsiteX32" fmla="*/ 184171 w 254000"/>
              <a:gd name="connsiteY32" fmla="*/ 139610 h 330201"/>
              <a:gd name="connsiteX33" fmla="*/ 116728 w 254000"/>
              <a:gd name="connsiteY33" fmla="*/ 139610 h 330201"/>
              <a:gd name="connsiteX34" fmla="*/ 140074 w 254000"/>
              <a:gd name="connsiteY34" fmla="*/ 82732 h 330201"/>
              <a:gd name="connsiteX35" fmla="*/ 83007 w 254000"/>
              <a:gd name="connsiteY35" fmla="*/ 56878 h 330201"/>
              <a:gd name="connsiteX36" fmla="*/ 57067 w 254000"/>
              <a:gd name="connsiteY36" fmla="*/ 113756 h 330201"/>
              <a:gd name="connsiteX37" fmla="*/ 85601 w 254000"/>
              <a:gd name="connsiteY37" fmla="*/ 140902 h 330201"/>
              <a:gd name="connsiteX38" fmla="*/ 85601 w 254000"/>
              <a:gd name="connsiteY38" fmla="*/ 180975 h 330201"/>
              <a:gd name="connsiteX39" fmla="*/ 45395 w 254000"/>
              <a:gd name="connsiteY39" fmla="*/ 180975 h 330201"/>
              <a:gd name="connsiteX40" fmla="*/ 40207 w 254000"/>
              <a:gd name="connsiteY40" fmla="*/ 178390 h 330201"/>
              <a:gd name="connsiteX41" fmla="*/ 37613 w 254000"/>
              <a:gd name="connsiteY41" fmla="*/ 173219 h 330201"/>
              <a:gd name="connsiteX42" fmla="*/ 45395 w 254000"/>
              <a:gd name="connsiteY42" fmla="*/ 156414 h 330201"/>
              <a:gd name="connsiteX43" fmla="*/ 42801 w 254000"/>
              <a:gd name="connsiteY43" fmla="*/ 148658 h 330201"/>
              <a:gd name="connsiteX44" fmla="*/ 36316 w 254000"/>
              <a:gd name="connsiteY44" fmla="*/ 147366 h 330201"/>
              <a:gd name="connsiteX45" fmla="*/ 19455 w 254000"/>
              <a:gd name="connsiteY45" fmla="*/ 153829 h 330201"/>
              <a:gd name="connsiteX46" fmla="*/ 14267 w 254000"/>
              <a:gd name="connsiteY46" fmla="*/ 151244 h 330201"/>
              <a:gd name="connsiteX47" fmla="*/ 0 w 254000"/>
              <a:gd name="connsiteY47" fmla="*/ 113756 h 330201"/>
              <a:gd name="connsiteX48" fmla="*/ 2594 w 254000"/>
              <a:gd name="connsiteY48" fmla="*/ 108585 h 330201"/>
              <a:gd name="connsiteX49" fmla="*/ 19455 w 254000"/>
              <a:gd name="connsiteY49" fmla="*/ 102122 h 330201"/>
              <a:gd name="connsiteX50" fmla="*/ 23346 w 254000"/>
              <a:gd name="connsiteY50" fmla="*/ 94366 h 330201"/>
              <a:gd name="connsiteX51" fmla="*/ 19455 w 254000"/>
              <a:gd name="connsiteY51" fmla="*/ 89195 h 330201"/>
              <a:gd name="connsiteX52" fmla="*/ 3891 w 254000"/>
              <a:gd name="connsiteY52" fmla="*/ 81439 h 330201"/>
              <a:gd name="connsiteX53" fmla="*/ 1297 w 254000"/>
              <a:gd name="connsiteY53" fmla="*/ 76268 h 330201"/>
              <a:gd name="connsiteX54" fmla="*/ 18158 w 254000"/>
              <a:gd name="connsiteY54" fmla="*/ 40073 h 330201"/>
              <a:gd name="connsiteX55" fmla="*/ 24643 w 254000"/>
              <a:gd name="connsiteY55" fmla="*/ 37488 h 330201"/>
              <a:gd name="connsiteX56" fmla="*/ 40207 w 254000"/>
              <a:gd name="connsiteY56" fmla="*/ 45244 h 330201"/>
              <a:gd name="connsiteX57" fmla="*/ 49286 w 254000"/>
              <a:gd name="connsiteY57" fmla="*/ 42659 h 330201"/>
              <a:gd name="connsiteX58" fmla="*/ 49286 w 254000"/>
              <a:gd name="connsiteY58" fmla="*/ 36195 h 330201"/>
              <a:gd name="connsiteX59" fmla="*/ 44098 w 254000"/>
              <a:gd name="connsiteY59" fmla="*/ 19390 h 330201"/>
              <a:gd name="connsiteX60" fmla="*/ 46692 w 254000"/>
              <a:gd name="connsiteY60" fmla="*/ 14220 h 330201"/>
              <a:gd name="connsiteX61" fmla="*/ 84304 w 254000"/>
              <a:gd name="connsiteY61" fmla="*/ 0 h 330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4000" h="330201">
                <a:moveTo>
                  <a:pt x="0" y="195263"/>
                </a:moveTo>
                <a:lnTo>
                  <a:pt x="55563" y="195263"/>
                </a:lnTo>
                <a:lnTo>
                  <a:pt x="55563" y="330201"/>
                </a:lnTo>
                <a:lnTo>
                  <a:pt x="0" y="330201"/>
                </a:lnTo>
                <a:close/>
                <a:moveTo>
                  <a:pt x="98425" y="152400"/>
                </a:moveTo>
                <a:lnTo>
                  <a:pt x="155575" y="152400"/>
                </a:lnTo>
                <a:lnTo>
                  <a:pt x="155575" y="330200"/>
                </a:lnTo>
                <a:lnTo>
                  <a:pt x="98425" y="330200"/>
                </a:lnTo>
                <a:close/>
                <a:moveTo>
                  <a:pt x="198437" y="109538"/>
                </a:moveTo>
                <a:lnTo>
                  <a:pt x="254000" y="109538"/>
                </a:lnTo>
                <a:lnTo>
                  <a:pt x="254000" y="330201"/>
                </a:lnTo>
                <a:lnTo>
                  <a:pt x="198437" y="330201"/>
                </a:lnTo>
                <a:close/>
                <a:moveTo>
                  <a:pt x="84304" y="0"/>
                </a:moveTo>
                <a:cubicBezTo>
                  <a:pt x="85601" y="0"/>
                  <a:pt x="88195" y="0"/>
                  <a:pt x="89492" y="2586"/>
                </a:cubicBezTo>
                <a:cubicBezTo>
                  <a:pt x="89492" y="2586"/>
                  <a:pt x="89492" y="2586"/>
                  <a:pt x="95977" y="19390"/>
                </a:cubicBezTo>
                <a:cubicBezTo>
                  <a:pt x="95977" y="21976"/>
                  <a:pt x="101165" y="23268"/>
                  <a:pt x="103759" y="23268"/>
                </a:cubicBezTo>
                <a:cubicBezTo>
                  <a:pt x="105056" y="23268"/>
                  <a:pt x="107650" y="21976"/>
                  <a:pt x="108947" y="19390"/>
                </a:cubicBezTo>
                <a:cubicBezTo>
                  <a:pt x="108947" y="19390"/>
                  <a:pt x="108947" y="19390"/>
                  <a:pt x="115432" y="3878"/>
                </a:cubicBezTo>
                <a:cubicBezTo>
                  <a:pt x="116728" y="1293"/>
                  <a:pt x="119322" y="1293"/>
                  <a:pt x="121916" y="1293"/>
                </a:cubicBezTo>
                <a:cubicBezTo>
                  <a:pt x="121916" y="1293"/>
                  <a:pt x="121916" y="1293"/>
                  <a:pt x="158232" y="18098"/>
                </a:cubicBezTo>
                <a:cubicBezTo>
                  <a:pt x="160826" y="19390"/>
                  <a:pt x="160826" y="21976"/>
                  <a:pt x="160826" y="24561"/>
                </a:cubicBezTo>
                <a:cubicBezTo>
                  <a:pt x="160826" y="24561"/>
                  <a:pt x="160826" y="24561"/>
                  <a:pt x="153044" y="40073"/>
                </a:cubicBezTo>
                <a:cubicBezTo>
                  <a:pt x="151747" y="42659"/>
                  <a:pt x="154341" y="47829"/>
                  <a:pt x="155638" y="49122"/>
                </a:cubicBezTo>
                <a:cubicBezTo>
                  <a:pt x="156935" y="50415"/>
                  <a:pt x="159529" y="50415"/>
                  <a:pt x="160826" y="49122"/>
                </a:cubicBezTo>
                <a:cubicBezTo>
                  <a:pt x="160826" y="49122"/>
                  <a:pt x="160826" y="49122"/>
                  <a:pt x="177687" y="43951"/>
                </a:cubicBezTo>
                <a:cubicBezTo>
                  <a:pt x="180281" y="42659"/>
                  <a:pt x="182874" y="43951"/>
                  <a:pt x="184171" y="46537"/>
                </a:cubicBezTo>
                <a:cubicBezTo>
                  <a:pt x="184171" y="46537"/>
                  <a:pt x="184171" y="46537"/>
                  <a:pt x="197141" y="84024"/>
                </a:cubicBezTo>
                <a:cubicBezTo>
                  <a:pt x="198438" y="85317"/>
                  <a:pt x="197141" y="87902"/>
                  <a:pt x="194547" y="89195"/>
                </a:cubicBezTo>
                <a:cubicBezTo>
                  <a:pt x="194547" y="89195"/>
                  <a:pt x="194547" y="89195"/>
                  <a:pt x="178984" y="95658"/>
                </a:cubicBezTo>
                <a:cubicBezTo>
                  <a:pt x="176390" y="95658"/>
                  <a:pt x="173796" y="98244"/>
                  <a:pt x="173796" y="99536"/>
                </a:cubicBezTo>
                <a:cubicBezTo>
                  <a:pt x="173796" y="102122"/>
                  <a:pt x="175093" y="107293"/>
                  <a:pt x="177687" y="108585"/>
                </a:cubicBezTo>
                <a:cubicBezTo>
                  <a:pt x="177687" y="108585"/>
                  <a:pt x="177687" y="108585"/>
                  <a:pt x="184171" y="111171"/>
                </a:cubicBezTo>
                <a:cubicBezTo>
                  <a:pt x="184171" y="111171"/>
                  <a:pt x="184171" y="111171"/>
                  <a:pt x="184171" y="139610"/>
                </a:cubicBezTo>
                <a:cubicBezTo>
                  <a:pt x="184171" y="139610"/>
                  <a:pt x="184171" y="139610"/>
                  <a:pt x="116728" y="139610"/>
                </a:cubicBezTo>
                <a:cubicBezTo>
                  <a:pt x="137480" y="130561"/>
                  <a:pt x="149153" y="106000"/>
                  <a:pt x="140074" y="82732"/>
                </a:cubicBezTo>
                <a:cubicBezTo>
                  <a:pt x="132292" y="60756"/>
                  <a:pt x="106353" y="49122"/>
                  <a:pt x="83007" y="56878"/>
                </a:cubicBezTo>
                <a:cubicBezTo>
                  <a:pt x="60958" y="65927"/>
                  <a:pt x="49286" y="90488"/>
                  <a:pt x="57067" y="113756"/>
                </a:cubicBezTo>
                <a:cubicBezTo>
                  <a:pt x="62255" y="126683"/>
                  <a:pt x="72631" y="137024"/>
                  <a:pt x="85601" y="140902"/>
                </a:cubicBezTo>
                <a:cubicBezTo>
                  <a:pt x="85601" y="140902"/>
                  <a:pt x="85601" y="140902"/>
                  <a:pt x="85601" y="180975"/>
                </a:cubicBezTo>
                <a:cubicBezTo>
                  <a:pt x="85601" y="180975"/>
                  <a:pt x="85601" y="180975"/>
                  <a:pt x="45395" y="180975"/>
                </a:cubicBezTo>
                <a:cubicBezTo>
                  <a:pt x="45395" y="180975"/>
                  <a:pt x="45395" y="180975"/>
                  <a:pt x="40207" y="178390"/>
                </a:cubicBezTo>
                <a:cubicBezTo>
                  <a:pt x="37613" y="178390"/>
                  <a:pt x="36316" y="174512"/>
                  <a:pt x="37613" y="173219"/>
                </a:cubicBezTo>
                <a:cubicBezTo>
                  <a:pt x="37613" y="173219"/>
                  <a:pt x="37613" y="173219"/>
                  <a:pt x="45395" y="156414"/>
                </a:cubicBezTo>
                <a:cubicBezTo>
                  <a:pt x="46692" y="155122"/>
                  <a:pt x="44098" y="149951"/>
                  <a:pt x="42801" y="148658"/>
                </a:cubicBezTo>
                <a:cubicBezTo>
                  <a:pt x="41504" y="147366"/>
                  <a:pt x="38910" y="147366"/>
                  <a:pt x="36316" y="147366"/>
                </a:cubicBezTo>
                <a:cubicBezTo>
                  <a:pt x="36316" y="147366"/>
                  <a:pt x="36316" y="147366"/>
                  <a:pt x="19455" y="153829"/>
                </a:cubicBezTo>
                <a:cubicBezTo>
                  <a:pt x="18158" y="155122"/>
                  <a:pt x="15564" y="153829"/>
                  <a:pt x="14267" y="151244"/>
                </a:cubicBezTo>
                <a:cubicBezTo>
                  <a:pt x="14267" y="151244"/>
                  <a:pt x="14267" y="151244"/>
                  <a:pt x="0" y="113756"/>
                </a:cubicBezTo>
                <a:cubicBezTo>
                  <a:pt x="0" y="111171"/>
                  <a:pt x="0" y="108585"/>
                  <a:pt x="2594" y="108585"/>
                </a:cubicBezTo>
                <a:cubicBezTo>
                  <a:pt x="2594" y="108585"/>
                  <a:pt x="2594" y="108585"/>
                  <a:pt x="19455" y="102122"/>
                </a:cubicBezTo>
                <a:cubicBezTo>
                  <a:pt x="22049" y="100829"/>
                  <a:pt x="23346" y="95658"/>
                  <a:pt x="23346" y="94366"/>
                </a:cubicBezTo>
                <a:cubicBezTo>
                  <a:pt x="23346" y="93073"/>
                  <a:pt x="22049" y="90488"/>
                  <a:pt x="19455" y="89195"/>
                </a:cubicBezTo>
                <a:cubicBezTo>
                  <a:pt x="19455" y="89195"/>
                  <a:pt x="19455" y="89195"/>
                  <a:pt x="3891" y="81439"/>
                </a:cubicBezTo>
                <a:cubicBezTo>
                  <a:pt x="1297" y="81439"/>
                  <a:pt x="1297" y="77561"/>
                  <a:pt x="1297" y="76268"/>
                </a:cubicBezTo>
                <a:cubicBezTo>
                  <a:pt x="1297" y="76268"/>
                  <a:pt x="1297" y="76268"/>
                  <a:pt x="18158" y="40073"/>
                </a:cubicBezTo>
                <a:cubicBezTo>
                  <a:pt x="19455" y="37488"/>
                  <a:pt x="22049" y="36195"/>
                  <a:pt x="24643" y="37488"/>
                </a:cubicBezTo>
                <a:cubicBezTo>
                  <a:pt x="24643" y="37488"/>
                  <a:pt x="24643" y="37488"/>
                  <a:pt x="40207" y="45244"/>
                </a:cubicBezTo>
                <a:cubicBezTo>
                  <a:pt x="42801" y="46537"/>
                  <a:pt x="47989" y="43951"/>
                  <a:pt x="49286" y="42659"/>
                </a:cubicBezTo>
                <a:cubicBezTo>
                  <a:pt x="50582" y="41366"/>
                  <a:pt x="50582" y="38781"/>
                  <a:pt x="49286" y="36195"/>
                </a:cubicBezTo>
                <a:cubicBezTo>
                  <a:pt x="49286" y="36195"/>
                  <a:pt x="49286" y="36195"/>
                  <a:pt x="44098" y="19390"/>
                </a:cubicBezTo>
                <a:cubicBezTo>
                  <a:pt x="42801" y="18098"/>
                  <a:pt x="44098" y="15512"/>
                  <a:pt x="46692" y="14220"/>
                </a:cubicBezTo>
                <a:cubicBezTo>
                  <a:pt x="46692" y="14220"/>
                  <a:pt x="46692" y="14220"/>
                  <a:pt x="8430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矩形 15"/>
          <p:cNvSpPr/>
          <p:nvPr/>
        </p:nvSpPr>
        <p:spPr>
          <a:xfrm>
            <a:off x="1745583" y="4378718"/>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用户行为数据集</a:t>
            </a:r>
          </a:p>
        </p:txBody>
      </p:sp>
      <p:grpSp>
        <p:nvGrpSpPr>
          <p:cNvPr id="17" name="组合 16"/>
          <p:cNvGrpSpPr/>
          <p:nvPr/>
        </p:nvGrpSpPr>
        <p:grpSpPr>
          <a:xfrm>
            <a:off x="4868501" y="4378718"/>
            <a:ext cx="2454998" cy="646231"/>
            <a:chOff x="6585160" y="1678126"/>
            <a:chExt cx="2454998" cy="646231"/>
          </a:xfrm>
        </p:grpSpPr>
        <p:sp>
          <p:nvSpPr>
            <p:cNvPr id="18" name="矩形 17"/>
            <p:cNvSpPr/>
            <p:nvPr/>
          </p:nvSpPr>
          <p:spPr>
            <a:xfrm>
              <a:off x="6585160" y="2030750"/>
              <a:ext cx="2454998" cy="293607"/>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200" dirty="0">
                <a:solidFill>
                  <a:schemeClr val="tx1">
                    <a:lumMod val="50000"/>
                    <a:lumOff val="50000"/>
                  </a:schemeClr>
                </a:solidFill>
              </a:endParaRPr>
            </a:p>
          </p:txBody>
        </p:sp>
        <p:sp>
          <p:nvSpPr>
            <p:cNvPr id="19" name="矩形 18"/>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用户兴趣建模</a:t>
              </a:r>
            </a:p>
          </p:txBody>
        </p:sp>
      </p:grpSp>
      <p:grpSp>
        <p:nvGrpSpPr>
          <p:cNvPr id="20" name="组合 19"/>
          <p:cNvGrpSpPr/>
          <p:nvPr/>
        </p:nvGrpSpPr>
        <p:grpSpPr>
          <a:xfrm>
            <a:off x="8126956" y="4378718"/>
            <a:ext cx="2454998" cy="646231"/>
            <a:chOff x="6585160" y="1678126"/>
            <a:chExt cx="2454998" cy="646231"/>
          </a:xfrm>
        </p:grpSpPr>
        <p:sp>
          <p:nvSpPr>
            <p:cNvPr id="21" name="矩形 20"/>
            <p:cNvSpPr/>
            <p:nvPr/>
          </p:nvSpPr>
          <p:spPr>
            <a:xfrm>
              <a:off x="6585160" y="2030750"/>
              <a:ext cx="2454998" cy="293607"/>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200" dirty="0">
                <a:solidFill>
                  <a:schemeClr val="tx1">
                    <a:lumMod val="50000"/>
                    <a:lumOff val="50000"/>
                  </a:schemeClr>
                </a:solidFill>
              </a:endParaRPr>
            </a:p>
          </p:txBody>
        </p:sp>
        <p:sp>
          <p:nvSpPr>
            <p:cNvPr id="22" name="矩形 21"/>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rPr>
                <a:t>用户模型</a:t>
              </a:r>
            </a:p>
          </p:txBody>
        </p:sp>
      </p:grpSp>
    </p:spTree>
  </p:cSld>
  <p:clrMapOvr>
    <a:masterClrMapping/>
  </p:clrMapOvr>
  <p:transition spd="slow">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0000">
                                      <p:stCondLst>
                                        <p:cond delay="250"/>
                                      </p:stCondLst>
                                      <p:childTnLst>
                                        <p:set>
                                          <p:cBhvr>
                                            <p:cTn id="6" dur="1" fill="hold">
                                              <p:stCondLst>
                                                <p:cond delay="0"/>
                                              </p:stCondLst>
                                            </p:cTn>
                                            <p:tgtEl>
                                              <p:spTgt spid="17"/>
                                            </p:tgtEl>
                                            <p:attrNameLst>
                                              <p:attrName>style.visibility</p:attrName>
                                            </p:attrNameLst>
                                          </p:cBhvr>
                                          <p:to>
                                            <p:strVal val="visible"/>
                                          </p:to>
                                        </p:set>
                                        <p:anim calcmode="lin" valueType="num" p14:bounceEnd="60000">
                                          <p:cBhvr additive="base">
                                            <p:cTn id="7" dur="1000" fill="hold"/>
                                            <p:tgtEl>
                                              <p:spTgt spid="17"/>
                                            </p:tgtEl>
                                            <p:attrNameLst>
                                              <p:attrName>ppt_x</p:attrName>
                                            </p:attrNameLst>
                                          </p:cBhvr>
                                          <p:tavLst>
                                            <p:tav tm="0">
                                              <p:val>
                                                <p:strVal val="#ppt_x"/>
                                              </p:val>
                                            </p:tav>
                                            <p:tav tm="100000">
                                              <p:val>
                                                <p:strVal val="#ppt_x"/>
                                              </p:val>
                                            </p:tav>
                                          </p:tavLst>
                                        </p:anim>
                                        <p:anim calcmode="lin" valueType="num" p14:bounceEnd="60000">
                                          <p:cBhvr additive="base">
                                            <p:cTn id="8" dur="10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60000">
                                      <p:stCondLst>
                                        <p:cond delay="250"/>
                                      </p:stCondLst>
                                      <p:childTnLst>
                                        <p:set>
                                          <p:cBhvr>
                                            <p:cTn id="10" dur="1" fill="hold">
                                              <p:stCondLst>
                                                <p:cond delay="0"/>
                                              </p:stCondLst>
                                            </p:cTn>
                                            <p:tgtEl>
                                              <p:spTgt spid="20"/>
                                            </p:tgtEl>
                                            <p:attrNameLst>
                                              <p:attrName>style.visibility</p:attrName>
                                            </p:attrNameLst>
                                          </p:cBhvr>
                                          <p:to>
                                            <p:strVal val="visible"/>
                                          </p:to>
                                        </p:set>
                                        <p:anim calcmode="lin" valueType="num" p14:bounceEnd="60000">
                                          <p:cBhvr additive="base">
                                            <p:cTn id="11" dur="1000" fill="hold"/>
                                            <p:tgtEl>
                                              <p:spTgt spid="20"/>
                                            </p:tgtEl>
                                            <p:attrNameLst>
                                              <p:attrName>ppt_x</p:attrName>
                                            </p:attrNameLst>
                                          </p:cBhvr>
                                          <p:tavLst>
                                            <p:tav tm="0">
                                              <p:val>
                                                <p:strVal val="#ppt_x"/>
                                              </p:val>
                                            </p:tav>
                                            <p:tav tm="100000">
                                              <p:val>
                                                <p:strVal val="#ppt_x"/>
                                              </p:val>
                                            </p:tav>
                                          </p:tavLst>
                                        </p:anim>
                                        <p:anim calcmode="lin" valueType="num" p14:bounceEnd="60000">
                                          <p:cBhvr additive="base">
                                            <p:cTn id="12" dur="10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2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ppt_x"/>
                                              </p:val>
                                            </p:tav>
                                            <p:tav tm="100000">
                                              <p:val>
                                                <p:strVal val="#ppt_x"/>
                                              </p:val>
                                            </p:tav>
                                          </p:tavLst>
                                        </p:anim>
                                        <p:anim calcmode="lin" valueType="num">
                                          <p:cBhvr additive="base">
                                            <p:cTn id="8" dur="10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5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1000" fill="hold"/>
                                            <p:tgtEl>
                                              <p:spTgt spid="20"/>
                                            </p:tgtEl>
                                            <p:attrNameLst>
                                              <p:attrName>ppt_x</p:attrName>
                                            </p:attrNameLst>
                                          </p:cBhvr>
                                          <p:tavLst>
                                            <p:tav tm="0">
                                              <p:val>
                                                <p:strVal val="#ppt_x"/>
                                              </p:val>
                                            </p:tav>
                                            <p:tav tm="100000">
                                              <p:val>
                                                <p:strVal val="#ppt_x"/>
                                              </p:val>
                                            </p:tav>
                                          </p:tavLst>
                                        </p:anim>
                                        <p:anim calcmode="lin" valueType="num">
                                          <p:cBhvr additive="base">
                                            <p:cTn id="12" dur="10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1" fmla="*/ 0 w 3505845"/>
              <a:gd name="connsiteY0-2" fmla="*/ 0 h 4673580"/>
              <a:gd name="connsiteX1-3" fmla="*/ 3505845 w 3505845"/>
              <a:gd name="connsiteY1-4" fmla="*/ 0 h 4673580"/>
              <a:gd name="connsiteX2-5" fmla="*/ 3486795 w 3505845"/>
              <a:gd name="connsiteY2-6" fmla="*/ 2247900 h 4673580"/>
              <a:gd name="connsiteX3-7" fmla="*/ 3505845 w 3505845"/>
              <a:gd name="connsiteY3-8" fmla="*/ 4673580 h 4673580"/>
              <a:gd name="connsiteX4-9" fmla="*/ 0 w 3505845"/>
              <a:gd name="connsiteY4-10" fmla="*/ 4673580 h 4673580"/>
              <a:gd name="connsiteX5" fmla="*/ 0 w 3505845"/>
              <a:gd name="connsiteY5" fmla="*/ 0 h 4673580"/>
              <a:gd name="connsiteX0-11" fmla="*/ 0 w 3505845"/>
              <a:gd name="connsiteY0-12" fmla="*/ 0 h 4673580"/>
              <a:gd name="connsiteX1-13" fmla="*/ 3505845 w 3505845"/>
              <a:gd name="connsiteY1-14" fmla="*/ 0 h 4673580"/>
              <a:gd name="connsiteX2-15" fmla="*/ 3486795 w 3505845"/>
              <a:gd name="connsiteY2-16" fmla="*/ 2247900 h 4673580"/>
              <a:gd name="connsiteX3-17" fmla="*/ 3486795 w 3505845"/>
              <a:gd name="connsiteY3-18" fmla="*/ 3524250 h 4673580"/>
              <a:gd name="connsiteX4-19" fmla="*/ 3505845 w 3505845"/>
              <a:gd name="connsiteY4-20" fmla="*/ 4673580 h 4673580"/>
              <a:gd name="connsiteX5-21" fmla="*/ 0 w 3505845"/>
              <a:gd name="connsiteY5-22" fmla="*/ 4673580 h 4673580"/>
              <a:gd name="connsiteX6" fmla="*/ 0 w 3505845"/>
              <a:gd name="connsiteY6" fmla="*/ 0 h 4673580"/>
              <a:gd name="connsiteX0-23" fmla="*/ 0 w 3505845"/>
              <a:gd name="connsiteY0-24" fmla="*/ 0 h 4673580"/>
              <a:gd name="connsiteX1-25" fmla="*/ 3505845 w 3505845"/>
              <a:gd name="connsiteY1-26" fmla="*/ 0 h 4673580"/>
              <a:gd name="connsiteX2-27" fmla="*/ 3486795 w 3505845"/>
              <a:gd name="connsiteY2-28" fmla="*/ 2247900 h 4673580"/>
              <a:gd name="connsiteX3-29" fmla="*/ 3467745 w 3505845"/>
              <a:gd name="connsiteY3-30" fmla="*/ 2857500 h 4673580"/>
              <a:gd name="connsiteX4-31" fmla="*/ 3486795 w 3505845"/>
              <a:gd name="connsiteY4-32" fmla="*/ 3524250 h 4673580"/>
              <a:gd name="connsiteX5-33" fmla="*/ 3505845 w 3505845"/>
              <a:gd name="connsiteY5-34" fmla="*/ 4673580 h 4673580"/>
              <a:gd name="connsiteX6-35" fmla="*/ 0 w 3505845"/>
              <a:gd name="connsiteY6-36" fmla="*/ 4673580 h 4673580"/>
              <a:gd name="connsiteX7" fmla="*/ 0 w 3505845"/>
              <a:gd name="connsiteY7" fmla="*/ 0 h 4673580"/>
              <a:gd name="connsiteX0-37" fmla="*/ 3467745 w 3559185"/>
              <a:gd name="connsiteY0-38" fmla="*/ 2857500 h 4673580"/>
              <a:gd name="connsiteX1-39" fmla="*/ 3486795 w 3559185"/>
              <a:gd name="connsiteY1-40" fmla="*/ 3524250 h 4673580"/>
              <a:gd name="connsiteX2-41" fmla="*/ 3505845 w 3559185"/>
              <a:gd name="connsiteY2-42" fmla="*/ 4673580 h 4673580"/>
              <a:gd name="connsiteX3-43" fmla="*/ 0 w 3559185"/>
              <a:gd name="connsiteY3-44" fmla="*/ 4673580 h 4673580"/>
              <a:gd name="connsiteX4-45" fmla="*/ 0 w 3559185"/>
              <a:gd name="connsiteY4-46" fmla="*/ 0 h 4673580"/>
              <a:gd name="connsiteX5-47" fmla="*/ 3505845 w 3559185"/>
              <a:gd name="connsiteY5-48" fmla="*/ 0 h 4673580"/>
              <a:gd name="connsiteX6-49" fmla="*/ 3486795 w 3559185"/>
              <a:gd name="connsiteY6-50" fmla="*/ 2247900 h 4673580"/>
              <a:gd name="connsiteX7-51" fmla="*/ 3559185 w 3559185"/>
              <a:gd name="connsiteY7-52" fmla="*/ 2948940 h 4673580"/>
              <a:gd name="connsiteX0-53" fmla="*/ 3467745 w 3505845"/>
              <a:gd name="connsiteY0-54" fmla="*/ 2857500 h 4673580"/>
              <a:gd name="connsiteX1-55" fmla="*/ 3486795 w 3505845"/>
              <a:gd name="connsiteY1-56" fmla="*/ 3524250 h 4673580"/>
              <a:gd name="connsiteX2-57" fmla="*/ 3505845 w 3505845"/>
              <a:gd name="connsiteY2-58" fmla="*/ 4673580 h 4673580"/>
              <a:gd name="connsiteX3-59" fmla="*/ 0 w 3505845"/>
              <a:gd name="connsiteY3-60" fmla="*/ 4673580 h 4673580"/>
              <a:gd name="connsiteX4-61" fmla="*/ 0 w 3505845"/>
              <a:gd name="connsiteY4-62" fmla="*/ 0 h 4673580"/>
              <a:gd name="connsiteX5-63" fmla="*/ 3505845 w 3505845"/>
              <a:gd name="connsiteY5-64" fmla="*/ 0 h 4673580"/>
              <a:gd name="connsiteX6-65" fmla="*/ 3486795 w 3505845"/>
              <a:gd name="connsiteY6-66" fmla="*/ 2247900 h 4673580"/>
              <a:gd name="connsiteX0-67" fmla="*/ 3486795 w 3505845"/>
              <a:gd name="connsiteY0-68" fmla="*/ 3524250 h 4673580"/>
              <a:gd name="connsiteX1-69" fmla="*/ 3505845 w 3505845"/>
              <a:gd name="connsiteY1-70" fmla="*/ 4673580 h 4673580"/>
              <a:gd name="connsiteX2-71" fmla="*/ 0 w 3505845"/>
              <a:gd name="connsiteY2-72" fmla="*/ 4673580 h 4673580"/>
              <a:gd name="connsiteX3-73" fmla="*/ 0 w 3505845"/>
              <a:gd name="connsiteY3-74" fmla="*/ 0 h 4673580"/>
              <a:gd name="connsiteX4-75" fmla="*/ 3505845 w 3505845"/>
              <a:gd name="connsiteY4-76" fmla="*/ 0 h 4673580"/>
              <a:gd name="connsiteX5-77" fmla="*/ 3486795 w 3505845"/>
              <a:gd name="connsiteY5-78" fmla="*/ 2247900 h 4673580"/>
              <a:gd name="connsiteX0-79" fmla="*/ 3515978 w 3515978"/>
              <a:gd name="connsiteY0-80" fmla="*/ 3524250 h 4673580"/>
              <a:gd name="connsiteX1-81" fmla="*/ 3505845 w 3515978"/>
              <a:gd name="connsiteY1-82" fmla="*/ 4673580 h 4673580"/>
              <a:gd name="connsiteX2-83" fmla="*/ 0 w 3515978"/>
              <a:gd name="connsiteY2-84" fmla="*/ 4673580 h 4673580"/>
              <a:gd name="connsiteX3-85" fmla="*/ 0 w 3515978"/>
              <a:gd name="connsiteY3-86" fmla="*/ 0 h 4673580"/>
              <a:gd name="connsiteX4-87" fmla="*/ 3505845 w 3515978"/>
              <a:gd name="connsiteY4-88" fmla="*/ 0 h 4673580"/>
              <a:gd name="connsiteX5-89" fmla="*/ 3486795 w 3515978"/>
              <a:gd name="connsiteY5-90" fmla="*/ 2247900 h 4673580"/>
              <a:gd name="connsiteX0-91" fmla="*/ 3506250 w 3506869"/>
              <a:gd name="connsiteY0-92" fmla="*/ 3524250 h 4673580"/>
              <a:gd name="connsiteX1-93" fmla="*/ 3505845 w 3506869"/>
              <a:gd name="connsiteY1-94" fmla="*/ 4673580 h 4673580"/>
              <a:gd name="connsiteX2-95" fmla="*/ 0 w 3506869"/>
              <a:gd name="connsiteY2-96" fmla="*/ 4673580 h 4673580"/>
              <a:gd name="connsiteX3-97" fmla="*/ 0 w 3506869"/>
              <a:gd name="connsiteY3-98" fmla="*/ 0 h 4673580"/>
              <a:gd name="connsiteX4-99" fmla="*/ 3505845 w 3506869"/>
              <a:gd name="connsiteY4-100" fmla="*/ 0 h 4673580"/>
              <a:gd name="connsiteX5-101" fmla="*/ 3486795 w 3506869"/>
              <a:gd name="connsiteY5-102" fmla="*/ 2247900 h 4673580"/>
              <a:gd name="connsiteX0-103" fmla="*/ 3506250 w 3506869"/>
              <a:gd name="connsiteY0-104" fmla="*/ 3524250 h 4673580"/>
              <a:gd name="connsiteX1-105" fmla="*/ 3505845 w 3506869"/>
              <a:gd name="connsiteY1-106" fmla="*/ 4673580 h 4673580"/>
              <a:gd name="connsiteX2-107" fmla="*/ 0 w 3506869"/>
              <a:gd name="connsiteY2-108" fmla="*/ 4673580 h 4673580"/>
              <a:gd name="connsiteX3-109" fmla="*/ 0 w 3506869"/>
              <a:gd name="connsiteY3-110" fmla="*/ 0 h 4673580"/>
              <a:gd name="connsiteX4-111" fmla="*/ 3505845 w 3506869"/>
              <a:gd name="connsiteY4-112" fmla="*/ 0 h 4673580"/>
              <a:gd name="connsiteX5-113" fmla="*/ 3496523 w 3506869"/>
              <a:gd name="connsiteY5-114" fmla="*/ 2247900 h 4673580"/>
              <a:gd name="connsiteX0-115" fmla="*/ 3506250 w 3525963"/>
              <a:gd name="connsiteY0-116" fmla="*/ 3524250 h 4673580"/>
              <a:gd name="connsiteX1-117" fmla="*/ 3505845 w 3525963"/>
              <a:gd name="connsiteY1-118" fmla="*/ 4673580 h 4673580"/>
              <a:gd name="connsiteX2-119" fmla="*/ 0 w 3525963"/>
              <a:gd name="connsiteY2-120" fmla="*/ 4673580 h 4673580"/>
              <a:gd name="connsiteX3-121" fmla="*/ 0 w 3525963"/>
              <a:gd name="connsiteY3-122" fmla="*/ 0 h 4673580"/>
              <a:gd name="connsiteX4-123" fmla="*/ 3505845 w 3525963"/>
              <a:gd name="connsiteY4-124" fmla="*/ 0 h 4673580"/>
              <a:gd name="connsiteX5-125" fmla="*/ 3525706 w 3525963"/>
              <a:gd name="connsiteY5-126" fmla="*/ 2257628 h 4673580"/>
              <a:gd name="connsiteX0-127" fmla="*/ 3506250 w 3516372"/>
              <a:gd name="connsiteY0-128" fmla="*/ 3524250 h 4673580"/>
              <a:gd name="connsiteX1-129" fmla="*/ 3505845 w 3516372"/>
              <a:gd name="connsiteY1-130" fmla="*/ 4673580 h 4673580"/>
              <a:gd name="connsiteX2-131" fmla="*/ 0 w 3516372"/>
              <a:gd name="connsiteY2-132" fmla="*/ 4673580 h 4673580"/>
              <a:gd name="connsiteX3-133" fmla="*/ 0 w 3516372"/>
              <a:gd name="connsiteY3-134" fmla="*/ 0 h 4673580"/>
              <a:gd name="connsiteX4-135" fmla="*/ 3505845 w 3516372"/>
              <a:gd name="connsiteY4-136" fmla="*/ 0 h 4673580"/>
              <a:gd name="connsiteX5-137" fmla="*/ 3515978 w 3516372"/>
              <a:gd name="connsiteY5-138" fmla="*/ 2257628 h 4673580"/>
              <a:gd name="connsiteX0-139" fmla="*/ 3506250 w 3506869"/>
              <a:gd name="connsiteY0-140" fmla="*/ 3524250 h 4673580"/>
              <a:gd name="connsiteX1-141" fmla="*/ 3505845 w 3506869"/>
              <a:gd name="connsiteY1-142" fmla="*/ 4673580 h 4673580"/>
              <a:gd name="connsiteX2-143" fmla="*/ 0 w 3506869"/>
              <a:gd name="connsiteY2-144" fmla="*/ 4673580 h 4673580"/>
              <a:gd name="connsiteX3-145" fmla="*/ 0 w 3506869"/>
              <a:gd name="connsiteY3-146" fmla="*/ 0 h 4673580"/>
              <a:gd name="connsiteX4-147" fmla="*/ 3505845 w 3506869"/>
              <a:gd name="connsiteY4-148" fmla="*/ 0 h 4673580"/>
              <a:gd name="connsiteX5-149" fmla="*/ 3496523 w 3506869"/>
              <a:gd name="connsiteY5-150" fmla="*/ 2257628 h 4673580"/>
            </a:gdLst>
            <a:ahLst/>
            <a:cxnLst>
              <a:cxn ang="0">
                <a:pos x="connsiteX0-139" y="connsiteY0-140"/>
              </a:cxn>
              <a:cxn ang="0">
                <a:pos x="connsiteX1-141" y="connsiteY1-142"/>
              </a:cxn>
              <a:cxn ang="0">
                <a:pos x="connsiteX2-143" y="connsiteY2-144"/>
              </a:cxn>
              <a:cxn ang="0">
                <a:pos x="connsiteX3-145" y="connsiteY3-146"/>
              </a:cxn>
              <a:cxn ang="0">
                <a:pos x="connsiteX4-147" y="connsiteY4-148"/>
              </a:cxn>
              <a:cxn ang="0">
                <a:pos x="connsiteX5-149" y="connsiteY5-150"/>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80604020202020204" charset="0"/>
                <a:ea typeface="微软雅黑"/>
                <a:cs typeface="+mn-cs"/>
              </a:endParaRPr>
            </a:p>
          </p:txBody>
        </p:sp>
      </p:grpSp>
      <p:sp>
        <p:nvSpPr>
          <p:cNvPr id="6" name="文本框 5"/>
          <p:cNvSpPr txBox="1"/>
          <p:nvPr/>
        </p:nvSpPr>
        <p:spPr>
          <a:xfrm>
            <a:off x="3504877" y="3602275"/>
            <a:ext cx="5839795" cy="769441"/>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4400" b="1" dirty="0">
                <a:solidFill>
                  <a:prstClr val="black"/>
                </a:solidFill>
                <a:latin typeface="Geometr415 Blk BT" panose="020B0802020204020303" pitchFamily="34" charset="0"/>
                <a:ea typeface="微软雅黑"/>
              </a:rPr>
              <a:t>LSTM </a:t>
            </a:r>
            <a:r>
              <a:rPr lang="zh-CN" altLang="en-US" sz="4400" b="1" dirty="0">
                <a:solidFill>
                  <a:prstClr val="black"/>
                </a:solidFill>
                <a:latin typeface="Geometr415 Blk BT" panose="020B0802020204020303" pitchFamily="34" charset="0"/>
                <a:ea typeface="微软雅黑"/>
              </a:rPr>
              <a:t>网 络</a:t>
            </a:r>
            <a:endParaRPr kumimoji="0" lang="zh-CN" altLang="en-US" sz="44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PART02</a:t>
            </a:r>
            <a:endParaRPr kumimoji="0" lang="zh-CN" altLang="en-US" sz="54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06118"/>
            <a:ext cx="3976322"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80604020202020204" charset="0"/>
                <a:ea typeface="微软雅黑"/>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algn="ctr"/>
              <a:r>
                <a:rPr lang="en-US" altLang="zh-CN" sz="3600" dirty="0"/>
                <a:t>02</a:t>
              </a:r>
              <a:endParaRPr lang="zh-CN" altLang="en-US" sz="3600" dirty="0"/>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LSTM</a:t>
              </a: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能解决什么问题</a:t>
              </a:r>
            </a:p>
          </p:txBody>
        </p:sp>
      </p:grpSp>
      <p:sp>
        <p:nvSpPr>
          <p:cNvPr id="18" name="文本框 17"/>
          <p:cNvSpPr txBox="1"/>
          <p:nvPr/>
        </p:nvSpPr>
        <p:spPr>
          <a:xfrm>
            <a:off x="1702052" y="2216505"/>
            <a:ext cx="3211845" cy="646331"/>
          </a:xfrm>
          <a:prstGeom prst="rect">
            <a:avLst/>
          </a:prstGeom>
          <a:noFill/>
        </p:spPr>
        <p:txBody>
          <a:bodyPr wrap="square" rtlCol="0">
            <a:spAutoFit/>
          </a:bodyPr>
          <a:lstStyle/>
          <a:p>
            <a:r>
              <a:rPr lang="en-US" altLang="zh-CN" b="1" dirty="0"/>
              <a:t>Recurrent Neural Networks</a:t>
            </a:r>
            <a:endParaRPr lang="en-US" altLang="zh-CN" b="1" dirty="0"/>
          </a:p>
          <a:p>
            <a:r>
              <a:rPr lang="zh-CN" altLang="en-US" b="1" dirty="0"/>
              <a:t>递归神经网络</a:t>
            </a:r>
            <a:endParaRPr lang="en-US" altLang="zh-CN" b="1" dirty="0"/>
          </a:p>
        </p:txBody>
      </p:sp>
      <p:sp>
        <p:nvSpPr>
          <p:cNvPr id="19" name="文本框 18"/>
          <p:cNvSpPr txBox="1"/>
          <p:nvPr/>
        </p:nvSpPr>
        <p:spPr>
          <a:xfrm>
            <a:off x="1702052" y="3116125"/>
            <a:ext cx="3422106" cy="1477328"/>
          </a:xfrm>
          <a:prstGeom prst="rect">
            <a:avLst/>
          </a:prstGeom>
          <a:noFill/>
        </p:spPr>
        <p:txBody>
          <a:bodyPr wrap="square" rtlCol="0">
            <a:spAutoFit/>
          </a:bodyPr>
          <a:lstStyle/>
          <a:p>
            <a:r>
              <a:rPr lang="zh-CN" altLang="en-US" dirty="0"/>
              <a:t>当一个用户进行兴趣模型维护时不会从头开始建模，而是在已有模型的基础上进行更迭。</a:t>
            </a:r>
            <a:endParaRPr lang="en-US" altLang="zh-CN" dirty="0"/>
          </a:p>
          <a:p>
            <a:r>
              <a:rPr lang="zh-CN" altLang="en-US" dirty="0"/>
              <a:t>而递归神经网络的循环结构解决了信息持久化的问题。</a:t>
            </a:r>
          </a:p>
        </p:txBody>
      </p:sp>
      <p:pic>
        <p:nvPicPr>
          <p:cNvPr id="2050" name="Picture 2" descr="https://upload-images.jianshu.io/upload_images/42741-f16c8acc01d2d469.png?imageMogr2/auto-orient/strip%7CimageView2/2/w/45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52629" y="2216505"/>
            <a:ext cx="1788908" cy="277710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0" name="文本框 19">
                <a:extLst>
                  <a:ext uri="{FF2B5EF4-FFF2-40B4-BE49-F238E27FC236}">
                    <a14:artisticCrisscrossEtching id="{FC561386-ABBB-4565-A59C-88FDDF5C4D18}"/>
                  </a:ext>
                </a:extLst>
              </p:cNvPr>
              <p:cNvSpPr txBox="1"/>
              <p:nvPr/>
            </p:nvSpPr>
            <p:spPr>
              <a:xfrm>
                <a:off x="8428776" y="2216505"/>
                <a:ext cx="2634559" cy="2034531"/>
              </a:xfrm>
              <a:prstGeom prst="rect">
                <a:avLst/>
              </a:prstGeom>
              <a:noFill/>
            </p:spPr>
            <p:txBody>
              <a:bodyPr wrap="square" rtlCol="0">
                <a:spAutoFit/>
              </a:bodyPr>
              <a:lstStyle/>
              <a:p>
                <a:r>
                  <a:rPr lang="zh-CN" altLang="en-US" dirty="0"/>
                  <a:t>左图中：</a:t>
                </a:r>
                <a:endParaRPr lang="en-US" altLang="zh-CN" dirty="0"/>
              </a:p>
              <a:p>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h</m:t>
                        </m:r>
                      </m:e>
                      <m:sub>
                        <m:r>
                          <a:rPr lang="zh-CN" altLang="en-US" i="1" smtClean="0">
                            <a:latin typeface="Cambria Math" panose="02040503050406030204" pitchFamily="18" charset="0"/>
                          </a:rPr>
                          <m:t>𝑡</m:t>
                        </m:r>
                      </m:sub>
                    </m:sSub>
                    <m:r>
                      <a:rPr lang="zh-CN" altLang="en-US" i="1">
                        <a:latin typeface="Cambria Math" panose="02040503050406030204" pitchFamily="18" charset="0"/>
                      </a:rPr>
                      <m:t>表示</m:t>
                    </m:r>
                  </m:oMath>
                </a14:m>
                <a:r>
                  <a:rPr lang="zh-CN" altLang="en-US" i="1" dirty="0">
                    <a:latin typeface="Cambria Math" panose="02040503050406030204" pitchFamily="18" charset="0"/>
                  </a:rPr>
                  <a:t>输出</a:t>
                </a:r>
                <a:endParaRPr lang="en-US" altLang="zh-CN" i="1" dirty="0">
                  <a:latin typeface="Cambria Math" panose="02040503050406030204" pitchFamily="18" charset="0"/>
                </a:endParaRPr>
              </a:p>
              <a:p>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𝑡</m:t>
                        </m:r>
                      </m:sub>
                    </m:sSub>
                    <m:r>
                      <a:rPr lang="zh-CN" altLang="en-US" i="1">
                        <a:latin typeface="Cambria Math" panose="02040503050406030204" pitchFamily="18" charset="0"/>
                      </a:rPr>
                      <m:t>表示</m:t>
                    </m:r>
                    <m:r>
                      <a:rPr lang="zh-CN" altLang="en-US" i="1" smtClean="0">
                        <a:latin typeface="Cambria Math" panose="02040503050406030204" pitchFamily="18" charset="0"/>
                      </a:rPr>
                      <m:t>一个</m:t>
                    </m:r>
                  </m:oMath>
                </a14:m>
                <a:r>
                  <a:rPr lang="zh-CN" altLang="en-US" i="1" dirty="0">
                    <a:latin typeface="Cambria Math" panose="02040503050406030204" pitchFamily="18" charset="0"/>
                  </a:rPr>
                  <a:t>输入</a:t>
                </a:r>
                <a:endParaRPr lang="en-US" altLang="zh-CN" i="1" dirty="0">
                  <a:latin typeface="Cambria Math" panose="02040503050406030204" pitchFamily="18" charset="0"/>
                </a:endParaRPr>
              </a:p>
              <a:p>
                <a14:m>
                  <m:oMath xmlns:m="http://schemas.openxmlformats.org/officeDocument/2006/math">
                    <m:r>
                      <a:rPr lang="zh-CN" altLang="en-US" i="1" smtClean="0">
                        <a:latin typeface="Cambria Math" panose="02040503050406030204" pitchFamily="18" charset="0"/>
                      </a:rPr>
                      <m:t>𝐴</m:t>
                    </m:r>
                  </m:oMath>
                </a14:m>
                <a:r>
                  <a:rPr lang="zh-CN" altLang="en-US" dirty="0"/>
                  <a:t>表示神经网络模块</a:t>
                </a:r>
                <a:endParaRPr lang="en-US" altLang="zh-CN" dirty="0"/>
              </a:p>
              <a:p>
                <a:endParaRPr lang="en-US" altLang="zh-CN" dirty="0"/>
              </a:p>
              <a:p>
                <a:r>
                  <a:rPr lang="zh-CN" altLang="en-US" dirty="0"/>
                  <a:t>循环是的信息可以从当前步传递到下一步</a:t>
                </a:r>
              </a:p>
            </p:txBody>
          </p:sp>
        </mc:Choice>
        <mc:Fallback>
          <p:sp>
            <p:nvSpPr>
              <p:cNvPr id="20" name="文本框 19"/>
              <p:cNvSpPr txBox="1">
                <a:spLocks noRot="1" noChangeAspect="1" noMove="1" noResize="1" noEditPoints="1" noAdjustHandles="1" noChangeArrowheads="1" noChangeShapeType="1" noTextEdit="1"/>
              </p:cNvSpPr>
              <p:nvPr/>
            </p:nvSpPr>
            <p:spPr>
              <a:xfrm>
                <a:off x="8428776" y="2216505"/>
                <a:ext cx="2634559" cy="2034531"/>
              </a:xfrm>
              <a:prstGeom prst="rect">
                <a:avLst/>
              </a:prstGeom>
              <a:blipFill rotWithShape="1">
                <a:blip r:embed="rId2"/>
                <a:stretch>
                  <a:fillRect l="-2083" t="-1802" b="-4204"/>
                </a:stretch>
              </a:blipFill>
            </p:spPr>
            <p:txBody>
              <a:bodyPr/>
              <a:lstStyle/>
              <a:p>
                <a:r>
                  <a:rPr lang="zh-CN" altLang="en-US">
                    <a:noFill/>
                  </a:rPr>
                  <a:t> </a:t>
                </a:r>
              </a:p>
            </p:txBody>
          </p:sp>
        </mc:Fallback>
      </mc:AlternateContent>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06118"/>
            <a:ext cx="3976322"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Arial" panose="02080604020202020204" charset="0"/>
                <a:ea typeface="微软雅黑"/>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algn="ctr"/>
              <a:r>
                <a:rPr lang="en-US" altLang="zh-CN" sz="3600" dirty="0"/>
                <a:t>02</a:t>
              </a:r>
              <a:endParaRPr lang="zh-CN" altLang="en-US" sz="3600" dirty="0"/>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dirty="0">
                  <a:solidFill>
                    <a:prstClr val="black"/>
                  </a:solidFill>
                  <a:latin typeface="Geometr415 Blk BT" panose="020B0802020204020303" pitchFamily="34" charset="0"/>
                  <a:ea typeface="微软雅黑"/>
                </a:rPr>
                <a:t>RNN</a:t>
              </a:r>
              <a:r>
                <a:rPr lang="zh-CN" altLang="en-US" sz="2800" b="1" dirty="0">
                  <a:solidFill>
                    <a:prstClr val="black"/>
                  </a:solidFill>
                  <a:latin typeface="Geometr415 Blk BT" panose="020B0802020204020303" pitchFamily="34" charset="0"/>
                  <a:ea typeface="微软雅黑"/>
                </a:rPr>
                <a:t>的作用</a:t>
              </a:r>
              <a:endPar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grpSp>
      <p:sp>
        <p:nvSpPr>
          <p:cNvPr id="18" name="文本框 17"/>
          <p:cNvSpPr txBox="1"/>
          <p:nvPr/>
        </p:nvSpPr>
        <p:spPr>
          <a:xfrm>
            <a:off x="1702052" y="2216505"/>
            <a:ext cx="3211845" cy="646331"/>
          </a:xfrm>
          <a:prstGeom prst="rect">
            <a:avLst/>
          </a:prstGeom>
          <a:noFill/>
        </p:spPr>
        <p:txBody>
          <a:bodyPr wrap="square" rtlCol="0">
            <a:spAutoFit/>
          </a:bodyPr>
          <a:lstStyle/>
          <a:p>
            <a:r>
              <a:rPr lang="en-US" altLang="zh-CN" b="1" dirty="0"/>
              <a:t>Recurrent Neural Networks</a:t>
            </a:r>
            <a:endParaRPr lang="en-US" altLang="zh-CN" b="1" dirty="0"/>
          </a:p>
          <a:p>
            <a:r>
              <a:rPr lang="zh-CN" altLang="en-US" b="1" dirty="0"/>
              <a:t>递归神经网络</a:t>
            </a:r>
            <a:endParaRPr lang="en-US" altLang="zh-CN" b="1" dirty="0"/>
          </a:p>
        </p:txBody>
      </p:sp>
      <p:sp>
        <p:nvSpPr>
          <p:cNvPr id="19" name="文本框 18"/>
          <p:cNvSpPr txBox="1"/>
          <p:nvPr/>
        </p:nvSpPr>
        <p:spPr>
          <a:xfrm>
            <a:off x="1702052" y="3116125"/>
            <a:ext cx="3422106" cy="1477328"/>
          </a:xfrm>
          <a:prstGeom prst="rect">
            <a:avLst/>
          </a:prstGeom>
          <a:noFill/>
        </p:spPr>
        <p:txBody>
          <a:bodyPr wrap="square" rtlCol="0">
            <a:spAutoFit/>
          </a:bodyPr>
          <a:lstStyle/>
          <a:p>
            <a:r>
              <a:rPr lang="zh-CN" altLang="en-US" dirty="0"/>
              <a:t>当一个用户进行兴趣模型维护时不会从头开始建模，而是在已有模型的基础上进行更迭。</a:t>
            </a:r>
            <a:endParaRPr lang="en-US" altLang="zh-CN" dirty="0"/>
          </a:p>
          <a:p>
            <a:r>
              <a:rPr lang="zh-CN" altLang="en-US" dirty="0"/>
              <a:t>而递归神经网络的循环结构解决了信息持久化的问题。</a:t>
            </a:r>
          </a:p>
        </p:txBody>
      </p:sp>
      <p:pic>
        <p:nvPicPr>
          <p:cNvPr id="2050" name="Picture 2" descr="https://upload-images.jianshu.io/upload_images/42741-f16c8acc01d2d469.png?imageMogr2/auto-orient/strip%7CimageView2/2/w/45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52629" y="2216505"/>
            <a:ext cx="1788908" cy="277710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0" name="文本框 19">
                <a:extLst>
                  <a:ext uri="{FF2B5EF4-FFF2-40B4-BE49-F238E27FC236}">
                    <a14:artisticCrisscrossEtching id="{FC561386-ABBB-4565-A59C-88FDDF5C4D18}"/>
                  </a:ext>
                </a:extLst>
              </p:cNvPr>
              <p:cNvSpPr txBox="1"/>
              <p:nvPr/>
            </p:nvSpPr>
            <p:spPr>
              <a:xfrm>
                <a:off x="8428776" y="2216505"/>
                <a:ext cx="2634559" cy="2034531"/>
              </a:xfrm>
              <a:prstGeom prst="rect">
                <a:avLst/>
              </a:prstGeom>
              <a:noFill/>
            </p:spPr>
            <p:txBody>
              <a:bodyPr wrap="square" rtlCol="0">
                <a:spAutoFit/>
              </a:bodyPr>
              <a:lstStyle/>
              <a:p>
                <a:r>
                  <a:rPr lang="zh-CN" altLang="en-US" dirty="0"/>
                  <a:t>左图中：</a:t>
                </a:r>
                <a:endParaRPr lang="en-US" altLang="zh-CN" dirty="0"/>
              </a:p>
              <a:p>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h</m:t>
                        </m:r>
                      </m:e>
                      <m:sub>
                        <m:r>
                          <a:rPr lang="zh-CN" altLang="en-US" i="1" smtClean="0">
                            <a:latin typeface="Cambria Math" panose="02040503050406030204" pitchFamily="18" charset="0"/>
                          </a:rPr>
                          <m:t>𝑡</m:t>
                        </m:r>
                      </m:sub>
                    </m:sSub>
                    <m:r>
                      <a:rPr lang="zh-CN" altLang="en-US" i="1">
                        <a:latin typeface="Cambria Math" panose="02040503050406030204" pitchFamily="18" charset="0"/>
                      </a:rPr>
                      <m:t>表示</m:t>
                    </m:r>
                  </m:oMath>
                </a14:m>
                <a:r>
                  <a:rPr lang="zh-CN" altLang="en-US" i="1" dirty="0">
                    <a:latin typeface="Cambria Math" panose="02040503050406030204" pitchFamily="18" charset="0"/>
                  </a:rPr>
                  <a:t>输出</a:t>
                </a:r>
                <a:endParaRPr lang="en-US" altLang="zh-CN" i="1" dirty="0">
                  <a:latin typeface="Cambria Math" panose="02040503050406030204" pitchFamily="18" charset="0"/>
                </a:endParaRPr>
              </a:p>
              <a:p>
                <a14:m>
                  <m:oMath xmlns:m="http://schemas.openxmlformats.org/officeDocument/2006/math">
                    <m:sSub>
                      <m:sSubPr>
                        <m:ctrlPr>
                          <a:rPr lang="zh-CN" altLang="en-US" i="1" smtClean="0">
                            <a:latin typeface="Cambria Math" panose="02040503050406030204" pitchFamily="18" charset="0"/>
                          </a:rPr>
                        </m:ctrlPr>
                      </m:sSubPr>
                      <m:e>
                        <m:r>
                          <a:rPr lang="zh-CN" altLang="en-US" i="1" smtClean="0">
                            <a:latin typeface="Cambria Math" panose="02040503050406030204" pitchFamily="18" charset="0"/>
                          </a:rPr>
                          <m:t>𝑥</m:t>
                        </m:r>
                      </m:e>
                      <m:sub>
                        <m:r>
                          <a:rPr lang="zh-CN" altLang="en-US" i="1" smtClean="0">
                            <a:latin typeface="Cambria Math" panose="02040503050406030204" pitchFamily="18" charset="0"/>
                          </a:rPr>
                          <m:t>𝑡</m:t>
                        </m:r>
                      </m:sub>
                    </m:sSub>
                    <m:r>
                      <a:rPr lang="zh-CN" altLang="en-US" i="1">
                        <a:latin typeface="Cambria Math" panose="02040503050406030204" pitchFamily="18" charset="0"/>
                      </a:rPr>
                      <m:t>表示</m:t>
                    </m:r>
                    <m:r>
                      <a:rPr lang="zh-CN" altLang="en-US" i="1" smtClean="0">
                        <a:latin typeface="Cambria Math" panose="02040503050406030204" pitchFamily="18" charset="0"/>
                      </a:rPr>
                      <m:t>一个</m:t>
                    </m:r>
                  </m:oMath>
                </a14:m>
                <a:r>
                  <a:rPr lang="zh-CN" altLang="en-US" i="1" dirty="0">
                    <a:latin typeface="Cambria Math" panose="02040503050406030204" pitchFamily="18" charset="0"/>
                  </a:rPr>
                  <a:t>输入</a:t>
                </a:r>
                <a:endParaRPr lang="en-US" altLang="zh-CN" i="1" dirty="0">
                  <a:latin typeface="Cambria Math" panose="02040503050406030204" pitchFamily="18" charset="0"/>
                </a:endParaRPr>
              </a:p>
              <a:p>
                <a14:m>
                  <m:oMath xmlns:m="http://schemas.openxmlformats.org/officeDocument/2006/math">
                    <m:r>
                      <a:rPr lang="zh-CN" altLang="en-US" i="1" smtClean="0">
                        <a:latin typeface="Cambria Math" panose="02040503050406030204" pitchFamily="18" charset="0"/>
                      </a:rPr>
                      <m:t>𝐴</m:t>
                    </m:r>
                  </m:oMath>
                </a14:m>
                <a:r>
                  <a:rPr lang="zh-CN" altLang="en-US" dirty="0"/>
                  <a:t>表示神经网络模块</a:t>
                </a:r>
                <a:endParaRPr lang="en-US" altLang="zh-CN" dirty="0"/>
              </a:p>
              <a:p>
                <a:endParaRPr lang="en-US" altLang="zh-CN" dirty="0"/>
              </a:p>
              <a:p>
                <a:r>
                  <a:rPr lang="zh-CN" altLang="en-US" dirty="0"/>
                  <a:t>循环是的信息可以从当前步传递到下一步</a:t>
                </a:r>
              </a:p>
            </p:txBody>
          </p:sp>
        </mc:Choice>
        <mc:Fallback>
          <p:sp>
            <p:nvSpPr>
              <p:cNvPr id="20" name="文本框 19"/>
              <p:cNvSpPr txBox="1">
                <a:spLocks noRot="1" noChangeAspect="1" noMove="1" noResize="1" noEditPoints="1" noAdjustHandles="1" noChangeArrowheads="1" noChangeShapeType="1" noTextEdit="1"/>
              </p:cNvSpPr>
              <p:nvPr/>
            </p:nvSpPr>
            <p:spPr>
              <a:xfrm>
                <a:off x="8428776" y="2216505"/>
                <a:ext cx="2634559" cy="2034531"/>
              </a:xfrm>
              <a:prstGeom prst="rect">
                <a:avLst/>
              </a:prstGeom>
              <a:blipFill rotWithShape="1">
                <a:blip r:embed="rId2"/>
                <a:stretch>
                  <a:fillRect l="-2083" t="-1802" b="-4204"/>
                </a:stretch>
              </a:blipFill>
            </p:spPr>
            <p:txBody>
              <a:bodyPr/>
              <a:lstStyle/>
              <a:p>
                <a:r>
                  <a:rPr lang="zh-CN" altLang="en-US">
                    <a:noFill/>
                  </a:rPr>
                  <a:t> </a:t>
                </a:r>
              </a:p>
            </p:txBody>
          </p:sp>
        </mc:Fallback>
      </mc:AlternateContent>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849858" cy="1549321"/>
            <a:chOff x="4388795" y="199351"/>
            <a:chExt cx="3414409" cy="1549321"/>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02</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954107"/>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lvl="0" algn="ctr">
                <a:defRPr/>
              </a:pPr>
              <a:r>
                <a:rPr lang="en-US" altLang="zh-CN" sz="2800" b="1" dirty="0">
                  <a:solidFill>
                    <a:prstClr val="black"/>
                  </a:solidFill>
                  <a:latin typeface="Geometr415 Blk BT" panose="020B0802020204020303" pitchFamily="34" charset="0"/>
                </a:rPr>
                <a:t>LSTM</a:t>
              </a:r>
              <a:r>
                <a:rPr lang="zh-CN" altLang="en-US" sz="2800" b="1" dirty="0">
                  <a:solidFill>
                    <a:prstClr val="black"/>
                  </a:solidFill>
                  <a:latin typeface="Geometr415 Blk BT" panose="020B0802020204020303" pitchFamily="34" charset="0"/>
                </a:rPr>
                <a:t>能解决什么问题</a:t>
              </a:r>
            </a:p>
          </p:txBody>
        </p:sp>
      </p:grpSp>
      <p:grpSp>
        <p:nvGrpSpPr>
          <p:cNvPr id="7" name="组合 6"/>
          <p:cNvGrpSpPr/>
          <p:nvPr/>
        </p:nvGrpSpPr>
        <p:grpSpPr>
          <a:xfrm>
            <a:off x="6848277" y="2088070"/>
            <a:ext cx="4530923" cy="2783226"/>
            <a:chOff x="6848277" y="2516740"/>
            <a:chExt cx="4530923" cy="2783226"/>
          </a:xfrm>
        </p:grpSpPr>
        <p:grpSp>
          <p:nvGrpSpPr>
            <p:cNvPr id="16" name="组合 15"/>
            <p:cNvGrpSpPr/>
            <p:nvPr/>
          </p:nvGrpSpPr>
          <p:grpSpPr>
            <a:xfrm rot="16200000">
              <a:off x="6848277" y="2516741"/>
              <a:ext cx="453958" cy="453958"/>
              <a:chOff x="5869021" y="5872413"/>
              <a:chExt cx="453958" cy="453958"/>
            </a:xfrm>
          </p:grpSpPr>
          <p:sp>
            <p:nvSpPr>
              <p:cNvPr id="21" name="矩形 20"/>
              <p:cNvSpPr/>
              <p:nvPr/>
            </p:nvSpPr>
            <p:spPr>
              <a:xfrm>
                <a:off x="5869021" y="5872413"/>
                <a:ext cx="453958" cy="453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22" name="箭头: V 形 21"/>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80604020202020204" charset="0"/>
                  <a:ea typeface="微软雅黑"/>
                  <a:cs typeface="+mn-cs"/>
                </a:endParaRPr>
              </a:p>
            </p:txBody>
          </p:sp>
        </p:grpSp>
        <p:grpSp>
          <p:nvGrpSpPr>
            <p:cNvPr id="23" name="组合 22"/>
            <p:cNvGrpSpPr/>
            <p:nvPr/>
          </p:nvGrpSpPr>
          <p:grpSpPr>
            <a:xfrm>
              <a:off x="7430572" y="2516740"/>
              <a:ext cx="3948628" cy="2783226"/>
              <a:chOff x="6585160" y="1678126"/>
              <a:chExt cx="3948628" cy="2783226"/>
            </a:xfrm>
          </p:grpSpPr>
          <p:sp>
            <p:nvSpPr>
              <p:cNvPr id="24" name="矩形 23"/>
              <p:cNvSpPr/>
              <p:nvPr/>
            </p:nvSpPr>
            <p:spPr>
              <a:xfrm>
                <a:off x="6585160" y="2030750"/>
                <a:ext cx="3948628" cy="2430602"/>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tx1">
                        <a:lumMod val="50000"/>
                        <a:lumOff val="50000"/>
                      </a:schemeClr>
                    </a:solidFill>
                  </a:rPr>
                  <a:t>“我出生于中国，</a:t>
                </a:r>
                <a:r>
                  <a:rPr lang="en-US" altLang="zh-CN" sz="1600" dirty="0">
                    <a:solidFill>
                      <a:schemeClr val="tx1">
                        <a:lumMod val="50000"/>
                        <a:lumOff val="50000"/>
                      </a:schemeClr>
                    </a:solidFill>
                  </a:rPr>
                  <a:t>……</a:t>
                </a:r>
                <a:r>
                  <a:rPr lang="zh-CN" altLang="en-US" sz="1600" dirty="0">
                    <a:solidFill>
                      <a:schemeClr val="tx1">
                        <a:lumMod val="50000"/>
                        <a:lumOff val="50000"/>
                      </a:schemeClr>
                    </a:solidFill>
                  </a:rPr>
                  <a:t>，我会说中国话”</a:t>
                </a:r>
                <a:endParaRPr lang="en-US" altLang="zh-CN" sz="1600" dirty="0">
                  <a:solidFill>
                    <a:schemeClr val="tx1">
                      <a:lumMod val="50000"/>
                      <a:lumOff val="50000"/>
                    </a:schemeClr>
                  </a:solidFill>
                </a:endParaRPr>
              </a:p>
              <a:p>
                <a:pPr>
                  <a:lnSpc>
                    <a:spcPct val="120000"/>
                  </a:lnSpc>
                </a:pPr>
                <a:r>
                  <a:rPr lang="zh-CN" altLang="en-US" sz="1600" dirty="0">
                    <a:solidFill>
                      <a:schemeClr val="tx1">
                        <a:lumMod val="50000"/>
                        <a:lumOff val="50000"/>
                      </a:schemeClr>
                    </a:solidFill>
                  </a:rPr>
                  <a:t>当前的信息建议下一个词是语言，但是判断我会说什么语言，就需要先前提到的离当前位置很远的中国，这说明相关信息和当前预测位置之间的间隔就肯定变得相当的大。</a:t>
                </a:r>
                <a:endParaRPr lang="en-US" altLang="zh-CN" sz="1600" dirty="0">
                  <a:solidFill>
                    <a:schemeClr val="tx1">
                      <a:lumMod val="50000"/>
                      <a:lumOff val="50000"/>
                    </a:schemeClr>
                  </a:solidFill>
                </a:endParaRPr>
              </a:p>
              <a:p>
                <a:pPr>
                  <a:lnSpc>
                    <a:spcPct val="120000"/>
                  </a:lnSpc>
                </a:pPr>
                <a:r>
                  <a:rPr lang="zh-CN" altLang="en-US" sz="1600" dirty="0">
                    <a:solidFill>
                      <a:schemeClr val="tx1">
                        <a:lumMod val="50000"/>
                        <a:lumOff val="50000"/>
                      </a:schemeClr>
                    </a:solidFill>
                  </a:rPr>
                  <a:t>但是这个间隔变得很大的时候，</a:t>
                </a:r>
                <a:r>
                  <a:rPr lang="en-US" altLang="zh-CN" sz="1600" dirty="0">
                    <a:solidFill>
                      <a:schemeClr val="tx1">
                        <a:lumMod val="50000"/>
                        <a:lumOff val="50000"/>
                      </a:schemeClr>
                    </a:solidFill>
                  </a:rPr>
                  <a:t>RNN</a:t>
                </a:r>
                <a:r>
                  <a:rPr lang="zh-CN" altLang="en-US" sz="1600" dirty="0">
                    <a:solidFill>
                      <a:schemeClr val="tx1">
                        <a:lumMod val="50000"/>
                        <a:lumOff val="50000"/>
                      </a:schemeClr>
                    </a:solidFill>
                  </a:rPr>
                  <a:t>会丧失学习到连接如此远的信息的能力。</a:t>
                </a:r>
              </a:p>
            </p:txBody>
          </p:sp>
          <p:sp>
            <p:nvSpPr>
              <p:cNvPr id="25" name="矩形 24"/>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chemeClr val="tx1">
                        <a:lumMod val="65000"/>
                        <a:lumOff val="35000"/>
                      </a:schemeClr>
                    </a:solidFill>
                  </a:rPr>
                  <a:t>RNN</a:t>
                </a:r>
                <a:r>
                  <a:rPr lang="zh-CN" altLang="en-US" b="1" dirty="0">
                    <a:solidFill>
                      <a:schemeClr val="tx1">
                        <a:lumMod val="65000"/>
                        <a:lumOff val="35000"/>
                      </a:schemeClr>
                    </a:solidFill>
                  </a:rPr>
                  <a:t>的弊端</a:t>
                </a:r>
              </a:p>
            </p:txBody>
          </p:sp>
        </p:grpSp>
      </p:grpSp>
      <p:grpSp>
        <p:nvGrpSpPr>
          <p:cNvPr id="33" name="组合 32"/>
          <p:cNvGrpSpPr/>
          <p:nvPr/>
        </p:nvGrpSpPr>
        <p:grpSpPr>
          <a:xfrm>
            <a:off x="6848277" y="5259269"/>
            <a:ext cx="4530921" cy="646231"/>
            <a:chOff x="6848279" y="2516740"/>
            <a:chExt cx="4530921" cy="646231"/>
          </a:xfrm>
        </p:grpSpPr>
        <p:grpSp>
          <p:nvGrpSpPr>
            <p:cNvPr id="34" name="组合 33"/>
            <p:cNvGrpSpPr/>
            <p:nvPr/>
          </p:nvGrpSpPr>
          <p:grpSpPr>
            <a:xfrm rot="16200000">
              <a:off x="6848279" y="2516742"/>
              <a:ext cx="453958" cy="453958"/>
              <a:chOff x="5869021" y="5872414"/>
              <a:chExt cx="453958" cy="453958"/>
            </a:xfrm>
          </p:grpSpPr>
          <p:sp>
            <p:nvSpPr>
              <p:cNvPr id="38" name="矩形 37"/>
              <p:cNvSpPr/>
              <p:nvPr/>
            </p:nvSpPr>
            <p:spPr>
              <a:xfrm>
                <a:off x="5869021" y="5872414"/>
                <a:ext cx="453958" cy="453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9" name="箭头: V 形 38"/>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80604020202020204" charset="0"/>
                  <a:ea typeface="微软雅黑"/>
                  <a:cs typeface="+mn-cs"/>
                </a:endParaRPr>
              </a:p>
            </p:txBody>
          </p:sp>
        </p:grpSp>
        <p:grpSp>
          <p:nvGrpSpPr>
            <p:cNvPr id="35" name="组合 34"/>
            <p:cNvGrpSpPr/>
            <p:nvPr/>
          </p:nvGrpSpPr>
          <p:grpSpPr>
            <a:xfrm>
              <a:off x="7430572" y="2516740"/>
              <a:ext cx="3948628" cy="646231"/>
              <a:chOff x="6585160" y="1678126"/>
              <a:chExt cx="3948628" cy="646231"/>
            </a:xfrm>
          </p:grpSpPr>
          <p:sp>
            <p:nvSpPr>
              <p:cNvPr id="36" name="矩形 35"/>
              <p:cNvSpPr/>
              <p:nvPr/>
            </p:nvSpPr>
            <p:spPr>
              <a:xfrm>
                <a:off x="6585160" y="2030750"/>
                <a:ext cx="3948628" cy="293607"/>
              </a:xfrm>
              <a:prstGeom prst="rect">
                <a:avLst/>
              </a:prstGeom>
            </p:spPr>
            <p:txBody>
              <a:bodyPr wrap="square">
                <a:spAutoFit/>
                <a:scene3d>
                  <a:camera prst="orthographicFront"/>
                  <a:lightRig rig="threePt" dir="t"/>
                </a:scene3d>
                <a:sp3d contourW="12700"/>
              </a:bodyPr>
              <a:lstStyle/>
              <a:p>
                <a:pPr>
                  <a:lnSpc>
                    <a:spcPct val="120000"/>
                  </a:lnSpc>
                </a:pPr>
                <a:endParaRPr lang="zh-CN" altLang="en-US" sz="1200" dirty="0">
                  <a:solidFill>
                    <a:schemeClr val="tx1">
                      <a:lumMod val="50000"/>
                      <a:lumOff val="50000"/>
                    </a:schemeClr>
                  </a:solidFill>
                </a:endParaRPr>
              </a:p>
            </p:txBody>
          </p:sp>
          <p:sp>
            <p:nvSpPr>
              <p:cNvPr id="37" name="矩形 36"/>
              <p:cNvSpPr/>
              <p:nvPr/>
            </p:nvSpPr>
            <p:spPr>
              <a:xfrm>
                <a:off x="6585160" y="1678126"/>
                <a:ext cx="3406144" cy="396134"/>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chemeClr val="tx1">
                        <a:lumMod val="65000"/>
                        <a:lumOff val="35000"/>
                      </a:schemeClr>
                    </a:solidFill>
                  </a:rPr>
                  <a:t>LSTM</a:t>
                </a:r>
                <a:r>
                  <a:rPr lang="zh-CN" altLang="en-US" b="1" dirty="0">
                    <a:solidFill>
                      <a:schemeClr val="tx1">
                        <a:lumMod val="65000"/>
                        <a:lumOff val="35000"/>
                      </a:schemeClr>
                    </a:solidFill>
                  </a:rPr>
                  <a:t>避免了长期依赖问题</a:t>
                </a:r>
              </a:p>
            </p:txBody>
          </p:sp>
        </p:grpSp>
      </p:grpSp>
      <p:sp>
        <p:nvSpPr>
          <p:cNvPr id="9" name="图片占位符 8"/>
          <p:cNvSpPr>
            <a:spLocks noGrp="1"/>
          </p:cNvSpPr>
          <p:nvPr>
            <p:ph type="pic" sz="quarter" idx="10"/>
          </p:nvPr>
        </p:nvSpPr>
        <p:spPr/>
      </p:sp>
      <p:pic>
        <p:nvPicPr>
          <p:cNvPr id="5124" name="Picture 4" descr="https://images2015.cnblogs.com/blog/947235/201608/947235-20160822112941745-776962568.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6582" y="1520982"/>
            <a:ext cx="5975287" cy="46560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02</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LSTM</a:t>
              </a: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思想</a:t>
              </a:r>
            </a:p>
          </p:txBody>
        </p:sp>
      </p:grpSp>
      <p:sp>
        <p:nvSpPr>
          <p:cNvPr id="14" name="矩形 13"/>
          <p:cNvSpPr/>
          <p:nvPr/>
        </p:nvSpPr>
        <p:spPr>
          <a:xfrm>
            <a:off x="1444614" y="1577326"/>
            <a:ext cx="9302769" cy="3907160"/>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rgbClr val="4B4B4B"/>
                </a:solidFill>
                <a:latin typeface="Verdana" panose="020B0604030504040204" pitchFamily="34" charset="0"/>
              </a:rPr>
              <a:t>在</a:t>
            </a:r>
            <a:r>
              <a:rPr lang="en-US" altLang="zh-CN" sz="1600" dirty="0">
                <a:solidFill>
                  <a:srgbClr val="4B4B4B"/>
                </a:solidFill>
                <a:latin typeface="Verdana" panose="020B0604030504040204" pitchFamily="34" charset="0"/>
              </a:rPr>
              <a:t>RNN</a:t>
            </a:r>
            <a:r>
              <a:rPr lang="zh-CN" altLang="en-US" sz="1600" dirty="0">
                <a:solidFill>
                  <a:srgbClr val="4B4B4B"/>
                </a:solidFill>
                <a:latin typeface="Verdana" panose="020B0604030504040204" pitchFamily="34" charset="0"/>
              </a:rPr>
              <a:t>结构以外添加了各层的阀门节点：</a:t>
            </a:r>
            <a:endParaRPr lang="en-US" altLang="zh-CN" sz="1600" dirty="0">
              <a:solidFill>
                <a:srgbClr val="4B4B4B"/>
              </a:solidFill>
              <a:latin typeface="Verdana" panose="020B0604030504040204" pitchFamily="34" charset="0"/>
            </a:endParaRPr>
          </a:p>
          <a:p>
            <a:pPr marL="228600" indent="-228600">
              <a:lnSpc>
                <a:spcPct val="120000"/>
              </a:lnSpc>
              <a:buFont typeface="+mj-lt"/>
              <a:buAutoNum type="arabicPeriod"/>
            </a:pPr>
            <a:r>
              <a:rPr lang="zh-CN" altLang="en-US" sz="1600" dirty="0">
                <a:solidFill>
                  <a:srgbClr val="4B4B4B"/>
                </a:solidFill>
                <a:latin typeface="Verdana" panose="020B0604030504040204" pitchFamily="34" charset="0"/>
              </a:rPr>
              <a:t>遗忘阀门（</a:t>
            </a:r>
            <a:r>
              <a:rPr lang="en-US" altLang="zh-CN" sz="1600" dirty="0">
                <a:solidFill>
                  <a:srgbClr val="4B4B4B"/>
                </a:solidFill>
                <a:latin typeface="Verdana" panose="020B0604030504040204" pitchFamily="34" charset="0"/>
              </a:rPr>
              <a:t>forget gate</a:t>
            </a:r>
            <a:r>
              <a:rPr lang="zh-CN" altLang="en-US" sz="1600" dirty="0">
                <a:solidFill>
                  <a:srgbClr val="4B4B4B"/>
                </a:solidFill>
                <a:latin typeface="Verdana" panose="020B0604030504040204" pitchFamily="34" charset="0"/>
              </a:rPr>
              <a:t>）</a:t>
            </a:r>
            <a:endParaRPr lang="en-US" altLang="zh-CN" sz="1600" dirty="0">
              <a:solidFill>
                <a:srgbClr val="4B4B4B"/>
              </a:solidFill>
              <a:latin typeface="Verdana" panose="020B0604030504040204" pitchFamily="34" charset="0"/>
            </a:endParaRPr>
          </a:p>
          <a:p>
            <a:pPr marL="228600" indent="-228600">
              <a:lnSpc>
                <a:spcPct val="120000"/>
              </a:lnSpc>
              <a:buFont typeface="+mj-lt"/>
              <a:buAutoNum type="arabicPeriod"/>
            </a:pPr>
            <a:r>
              <a:rPr lang="zh-CN" altLang="en-US" sz="1600" dirty="0">
                <a:solidFill>
                  <a:srgbClr val="4B4B4B"/>
                </a:solidFill>
                <a:latin typeface="Verdana" panose="020B0604030504040204" pitchFamily="34" charset="0"/>
              </a:rPr>
              <a:t>输入阀门（</a:t>
            </a:r>
            <a:r>
              <a:rPr lang="en-US" altLang="zh-CN" sz="1600" dirty="0">
                <a:solidFill>
                  <a:srgbClr val="4B4B4B"/>
                </a:solidFill>
                <a:latin typeface="Verdana" panose="020B0604030504040204" pitchFamily="34" charset="0"/>
              </a:rPr>
              <a:t>input gate</a:t>
            </a:r>
            <a:r>
              <a:rPr lang="zh-CN" altLang="en-US" sz="1600" dirty="0">
                <a:solidFill>
                  <a:srgbClr val="4B4B4B"/>
                </a:solidFill>
                <a:latin typeface="Verdana" panose="020B0604030504040204" pitchFamily="34" charset="0"/>
              </a:rPr>
              <a:t>）</a:t>
            </a:r>
            <a:endParaRPr lang="en-US" altLang="zh-CN" sz="1600" dirty="0">
              <a:solidFill>
                <a:srgbClr val="4B4B4B"/>
              </a:solidFill>
              <a:latin typeface="Verdana" panose="020B0604030504040204" pitchFamily="34" charset="0"/>
            </a:endParaRPr>
          </a:p>
          <a:p>
            <a:pPr marL="228600" indent="-228600">
              <a:lnSpc>
                <a:spcPct val="120000"/>
              </a:lnSpc>
              <a:buFont typeface="+mj-lt"/>
              <a:buAutoNum type="arabicPeriod"/>
            </a:pPr>
            <a:r>
              <a:rPr lang="zh-CN" altLang="en-US" sz="1600" dirty="0">
                <a:solidFill>
                  <a:srgbClr val="4B4B4B"/>
                </a:solidFill>
                <a:latin typeface="Verdana" panose="020B0604030504040204" pitchFamily="34" charset="0"/>
              </a:rPr>
              <a:t>输出阀门（</a:t>
            </a:r>
            <a:r>
              <a:rPr lang="en-US" altLang="zh-CN" sz="1600" dirty="0">
                <a:solidFill>
                  <a:srgbClr val="4B4B4B"/>
                </a:solidFill>
                <a:latin typeface="Verdana" panose="020B0604030504040204" pitchFamily="34" charset="0"/>
              </a:rPr>
              <a:t>output gate</a:t>
            </a:r>
            <a:r>
              <a:rPr lang="zh-CN" altLang="en-US" sz="1600" dirty="0">
                <a:solidFill>
                  <a:srgbClr val="4B4B4B"/>
                </a:solidFill>
                <a:latin typeface="Verdana" panose="020B0604030504040204" pitchFamily="34" charset="0"/>
              </a:rPr>
              <a:t>）</a:t>
            </a:r>
            <a:endParaRPr lang="en-US" altLang="zh-CN" sz="1600" dirty="0">
              <a:solidFill>
                <a:srgbClr val="4B4B4B"/>
              </a:solidFill>
              <a:latin typeface="Verdana" panose="020B0604030504040204" pitchFamily="34" charset="0"/>
            </a:endParaRPr>
          </a:p>
          <a:p>
            <a:pPr>
              <a:lnSpc>
                <a:spcPct val="120000"/>
              </a:lnSpc>
            </a:pPr>
            <a:r>
              <a:rPr lang="zh-CN" altLang="en-US" sz="1600" dirty="0">
                <a:solidFill>
                  <a:srgbClr val="4B4B4B"/>
                </a:solidFill>
                <a:latin typeface="Verdana" panose="020B0604030504040204" pitchFamily="34" charset="0"/>
              </a:rPr>
              <a:t>这些阀门可以打开或关闭，用于将判断模型网络的记忆态（之前网络的状态）在该层输出的结果是否达到阈值从而加入到当前该层的计算中。</a:t>
            </a:r>
            <a:endParaRPr lang="en-US" altLang="zh-CN" sz="1600" dirty="0">
              <a:solidFill>
                <a:srgbClr val="4B4B4B"/>
              </a:solidFill>
              <a:latin typeface="Verdana" panose="020B0604030504040204" pitchFamily="34" charset="0"/>
            </a:endParaRPr>
          </a:p>
          <a:p>
            <a:pPr>
              <a:lnSpc>
                <a:spcPct val="120000"/>
              </a:lnSpc>
            </a:pPr>
            <a:endParaRPr lang="en-US" altLang="zh-CN" sz="1600" dirty="0">
              <a:solidFill>
                <a:srgbClr val="4B4B4B"/>
              </a:solidFill>
              <a:latin typeface="Verdana" panose="020B0604030504040204" pitchFamily="34" charset="0"/>
            </a:endParaRPr>
          </a:p>
          <a:p>
            <a:pPr>
              <a:lnSpc>
                <a:spcPct val="120000"/>
              </a:lnSpc>
            </a:pPr>
            <a:r>
              <a:rPr lang="en-US" altLang="zh-CN" sz="1600" dirty="0">
                <a:solidFill>
                  <a:srgbClr val="4B4B4B"/>
                </a:solidFill>
                <a:latin typeface="Verdana" panose="020B0604030504040204" pitchFamily="34" charset="0"/>
              </a:rPr>
              <a:t>Sigmoid</a:t>
            </a:r>
            <a:r>
              <a:rPr lang="zh-CN" altLang="en-US" sz="1600" dirty="0">
                <a:solidFill>
                  <a:srgbClr val="4B4B4B"/>
                </a:solidFill>
                <a:latin typeface="Verdana" panose="020B0604030504040204" pitchFamily="34" charset="0"/>
              </a:rPr>
              <a:t>函数（神经网络的阈值函数）： </a:t>
            </a:r>
            <a:endParaRPr lang="en-US" altLang="zh-CN" sz="1600" dirty="0">
              <a:solidFill>
                <a:srgbClr val="4B4B4B"/>
              </a:solidFill>
              <a:latin typeface="Verdana" panose="020B0604030504040204" pitchFamily="34" charset="0"/>
            </a:endParaRPr>
          </a:p>
          <a:p>
            <a:pPr>
              <a:lnSpc>
                <a:spcPct val="120000"/>
              </a:lnSpc>
            </a:pPr>
            <a:endParaRPr lang="en-US" altLang="zh-CN" sz="1600" dirty="0">
              <a:solidFill>
                <a:srgbClr val="4B4B4B"/>
              </a:solidFill>
              <a:latin typeface="Verdana" panose="020B0604030504040204" pitchFamily="34" charset="0"/>
            </a:endParaRPr>
          </a:p>
          <a:p>
            <a:pPr>
              <a:lnSpc>
                <a:spcPct val="120000"/>
              </a:lnSpc>
            </a:pPr>
            <a:r>
              <a:rPr lang="zh-CN" altLang="en-US" sz="1600" dirty="0">
                <a:solidFill>
                  <a:srgbClr val="4B4B4B"/>
                </a:solidFill>
                <a:latin typeface="Verdana" panose="020B0604030504040204" pitchFamily="34" charset="0"/>
              </a:rPr>
              <a:t>阀门节点利用</a:t>
            </a:r>
            <a:r>
              <a:rPr lang="en-US" altLang="zh-CN" sz="1600" dirty="0">
                <a:solidFill>
                  <a:srgbClr val="4B4B4B"/>
                </a:solidFill>
                <a:latin typeface="Verdana" panose="020B0604030504040204" pitchFamily="34" charset="0"/>
              </a:rPr>
              <a:t>sigmoid</a:t>
            </a:r>
            <a:r>
              <a:rPr lang="zh-CN" altLang="en-US" sz="1600" dirty="0">
                <a:solidFill>
                  <a:srgbClr val="4B4B4B"/>
                </a:solidFill>
                <a:latin typeface="Verdana" panose="020B0604030504040204" pitchFamily="34" charset="0"/>
              </a:rPr>
              <a:t>函数将网络的记忆态作为输入计算；如果输出结果达到阈值则将该阀门输出与当前层的的计算结果相乘作为下一层的输入（</a:t>
            </a:r>
            <a:r>
              <a:rPr lang="en-US" altLang="zh-CN" sz="1600" dirty="0">
                <a:solidFill>
                  <a:srgbClr val="4B4B4B"/>
                </a:solidFill>
                <a:latin typeface="Verdana" panose="020B0604030504040204" pitchFamily="34" charset="0"/>
              </a:rPr>
              <a:t>PS</a:t>
            </a:r>
            <a:r>
              <a:rPr lang="zh-CN" altLang="en-US" sz="1600" dirty="0">
                <a:solidFill>
                  <a:srgbClr val="4B4B4B"/>
                </a:solidFill>
                <a:latin typeface="Verdana" panose="020B0604030504040204" pitchFamily="34" charset="0"/>
              </a:rPr>
              <a:t>：这里的相乘是在指矩阵中的逐元素相乘）；如果没有达到阈值则将该输出结果遗忘掉。每一层包括阀门节点的权重都会在每一次模型反向传播训练过程中更新。</a:t>
            </a:r>
            <a:endParaRPr lang="en-US" altLang="zh-CN" sz="1600" dirty="0">
              <a:solidFill>
                <a:srgbClr val="4B4B4B"/>
              </a:solidFill>
              <a:latin typeface="Verdana" panose="020B0604030504040204" pitchFamily="34" charset="0"/>
            </a:endParaRPr>
          </a:p>
        </p:txBody>
      </p:sp>
      <p:pic>
        <p:nvPicPr>
          <p:cNvPr id="3074" name="Picture 2" descr="https://gss3.bdstatic.com/-Po3dSag_xI4khGkpoWK1HF6hhy/baike/s%3D99/sign=a46bd6f1dd33c895a27e9472d01340df/0df3d7ca7bcb0a4659502a5f6f63f6246b60af62.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61551" y="3673783"/>
            <a:ext cx="942975" cy="333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fade">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 calcmode="lin" valueType="num">
                                      <p:cBhvr additive="base">
                                        <p:cTn id="22"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074"/>
                                        </p:tgtEl>
                                        <p:attrNameLst>
                                          <p:attrName>style.visibility</p:attrName>
                                        </p:attrNameLst>
                                      </p:cBhvr>
                                      <p:to>
                                        <p:strVal val="visible"/>
                                      </p:to>
                                    </p:set>
                                    <p:anim calcmode="lin" valueType="num">
                                      <p:cBhvr additive="base">
                                        <p:cTn id="28" dur="500" fill="hold"/>
                                        <p:tgtEl>
                                          <p:spTgt spid="3074"/>
                                        </p:tgtEl>
                                        <p:attrNameLst>
                                          <p:attrName>ppt_x</p:attrName>
                                        </p:attrNameLst>
                                      </p:cBhvr>
                                      <p:tavLst>
                                        <p:tav tm="0">
                                          <p:val>
                                            <p:strVal val="#ppt_x"/>
                                          </p:val>
                                        </p:tav>
                                        <p:tav tm="100000">
                                          <p:val>
                                            <p:strVal val="#ppt_x"/>
                                          </p:val>
                                        </p:tav>
                                      </p:tavLst>
                                    </p:anim>
                                    <p:anim calcmode="lin" valueType="num">
                                      <p:cBhvr additive="base">
                                        <p:cTn id="29"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4">
                                            <p:txEl>
                                              <p:pRg st="8" end="8"/>
                                            </p:txEl>
                                          </p:spTgt>
                                        </p:tgtEl>
                                        <p:attrNameLst>
                                          <p:attrName>style.visibility</p:attrName>
                                        </p:attrNameLst>
                                      </p:cBhvr>
                                      <p:to>
                                        <p:strVal val="visible"/>
                                      </p:to>
                                    </p:set>
                                    <p:animEffect transition="in" filter="fade">
                                      <p:cBhvr>
                                        <p:cTn id="34" dur="1000"/>
                                        <p:tgtEl>
                                          <p:spTgt spid="14">
                                            <p:txEl>
                                              <p:pRg st="8" end="8"/>
                                            </p:txEl>
                                          </p:spTgt>
                                        </p:tgtEl>
                                      </p:cBhvr>
                                    </p:animEffect>
                                    <p:anim calcmode="lin" valueType="num">
                                      <p:cBhvr>
                                        <p:cTn id="35"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02</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LSTM</a:t>
              </a: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思想</a:t>
              </a:r>
            </a:p>
          </p:txBody>
        </p:sp>
      </p:grpSp>
      <p:sp>
        <p:nvSpPr>
          <p:cNvPr id="14" name="矩形 13"/>
          <p:cNvSpPr/>
          <p:nvPr/>
        </p:nvSpPr>
        <p:spPr>
          <a:xfrm>
            <a:off x="7197505" y="1706951"/>
            <a:ext cx="3631360" cy="3316229"/>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600" dirty="0">
                <a:solidFill>
                  <a:srgbClr val="4B4B4B"/>
                </a:solidFill>
                <a:latin typeface="Verdana" panose="020B0604030504040204" pitchFamily="34" charset="0"/>
              </a:rPr>
              <a:t>LSTM</a:t>
            </a:r>
            <a:r>
              <a:rPr lang="zh-CN" altLang="en-US" sz="1600" dirty="0">
                <a:solidFill>
                  <a:srgbClr val="4B4B4B"/>
                </a:solidFill>
                <a:latin typeface="Verdana" panose="020B0604030504040204" pitchFamily="34" charset="0"/>
              </a:rPr>
              <a:t>模型的记忆功能就是由这些阀门节点实现的。当阀门打开的时候，前面模型的训练结果就会关联到当前的模型计算，而当阀门关闭的时候之前的计算结果就不再影响当前的计算。因此，通过调节阀门的开关我们就可以实现早期序列对最终结果的影响。而当你不不希望之前结果对之后产生影响，比如自然语言处理中的开始分析新段落或新章节，那么把阀门关掉即可。</a:t>
            </a:r>
            <a:endParaRPr lang="en-US" altLang="zh-CN" sz="1600" dirty="0">
              <a:solidFill>
                <a:srgbClr val="4B4B4B"/>
              </a:solidFill>
              <a:latin typeface="Verdana" panose="020B0604030504040204" pitchFamily="34" charset="0"/>
            </a:endParaRPr>
          </a:p>
        </p:txBody>
      </p:sp>
      <p:pic>
        <p:nvPicPr>
          <p:cNvPr id="10244" name="Picture 4" descr="Alt tex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7328" y="1933878"/>
            <a:ext cx="6000750" cy="3152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02</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LSTM</a:t>
              </a: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与</a:t>
              </a:r>
              <a:r>
                <a:rPr kumimoji="0" lang="en-US" altLang="zh-CN"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RNN</a:t>
              </a:r>
              <a:endPar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grpSp>
      <p:pic>
        <p:nvPicPr>
          <p:cNvPr id="15" name="图片 14"/>
          <p:cNvPicPr>
            <a:picLocks noChangeAspect="1"/>
          </p:cNvPicPr>
          <p:nvPr/>
        </p:nvPicPr>
        <p:blipFill>
          <a:blip r:embed="rId1"/>
          <a:stretch>
            <a:fillRect/>
          </a:stretch>
        </p:blipFill>
        <p:spPr>
          <a:xfrm>
            <a:off x="1408352" y="1577326"/>
            <a:ext cx="9150562" cy="4569879"/>
          </a:xfrm>
          <a:prstGeom prst="rect">
            <a:avLst/>
          </a:prstGeom>
        </p:spPr>
      </p:pic>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1" fmla="*/ 0 w 3505845"/>
              <a:gd name="connsiteY0-2" fmla="*/ 0 h 4673580"/>
              <a:gd name="connsiteX1-3" fmla="*/ 3505845 w 3505845"/>
              <a:gd name="connsiteY1-4" fmla="*/ 0 h 4673580"/>
              <a:gd name="connsiteX2-5" fmla="*/ 3486795 w 3505845"/>
              <a:gd name="connsiteY2-6" fmla="*/ 2247900 h 4673580"/>
              <a:gd name="connsiteX3-7" fmla="*/ 3505845 w 3505845"/>
              <a:gd name="connsiteY3-8" fmla="*/ 4673580 h 4673580"/>
              <a:gd name="connsiteX4-9" fmla="*/ 0 w 3505845"/>
              <a:gd name="connsiteY4-10" fmla="*/ 4673580 h 4673580"/>
              <a:gd name="connsiteX5" fmla="*/ 0 w 3505845"/>
              <a:gd name="connsiteY5" fmla="*/ 0 h 4673580"/>
              <a:gd name="connsiteX0-11" fmla="*/ 0 w 3505845"/>
              <a:gd name="connsiteY0-12" fmla="*/ 0 h 4673580"/>
              <a:gd name="connsiteX1-13" fmla="*/ 3505845 w 3505845"/>
              <a:gd name="connsiteY1-14" fmla="*/ 0 h 4673580"/>
              <a:gd name="connsiteX2-15" fmla="*/ 3486795 w 3505845"/>
              <a:gd name="connsiteY2-16" fmla="*/ 2247900 h 4673580"/>
              <a:gd name="connsiteX3-17" fmla="*/ 3486795 w 3505845"/>
              <a:gd name="connsiteY3-18" fmla="*/ 3524250 h 4673580"/>
              <a:gd name="connsiteX4-19" fmla="*/ 3505845 w 3505845"/>
              <a:gd name="connsiteY4-20" fmla="*/ 4673580 h 4673580"/>
              <a:gd name="connsiteX5-21" fmla="*/ 0 w 3505845"/>
              <a:gd name="connsiteY5-22" fmla="*/ 4673580 h 4673580"/>
              <a:gd name="connsiteX6" fmla="*/ 0 w 3505845"/>
              <a:gd name="connsiteY6" fmla="*/ 0 h 4673580"/>
              <a:gd name="connsiteX0-23" fmla="*/ 0 w 3505845"/>
              <a:gd name="connsiteY0-24" fmla="*/ 0 h 4673580"/>
              <a:gd name="connsiteX1-25" fmla="*/ 3505845 w 3505845"/>
              <a:gd name="connsiteY1-26" fmla="*/ 0 h 4673580"/>
              <a:gd name="connsiteX2-27" fmla="*/ 3486795 w 3505845"/>
              <a:gd name="connsiteY2-28" fmla="*/ 2247900 h 4673580"/>
              <a:gd name="connsiteX3-29" fmla="*/ 3467745 w 3505845"/>
              <a:gd name="connsiteY3-30" fmla="*/ 2857500 h 4673580"/>
              <a:gd name="connsiteX4-31" fmla="*/ 3486795 w 3505845"/>
              <a:gd name="connsiteY4-32" fmla="*/ 3524250 h 4673580"/>
              <a:gd name="connsiteX5-33" fmla="*/ 3505845 w 3505845"/>
              <a:gd name="connsiteY5-34" fmla="*/ 4673580 h 4673580"/>
              <a:gd name="connsiteX6-35" fmla="*/ 0 w 3505845"/>
              <a:gd name="connsiteY6-36" fmla="*/ 4673580 h 4673580"/>
              <a:gd name="connsiteX7" fmla="*/ 0 w 3505845"/>
              <a:gd name="connsiteY7" fmla="*/ 0 h 4673580"/>
              <a:gd name="connsiteX0-37" fmla="*/ 3467745 w 3559185"/>
              <a:gd name="connsiteY0-38" fmla="*/ 2857500 h 4673580"/>
              <a:gd name="connsiteX1-39" fmla="*/ 3486795 w 3559185"/>
              <a:gd name="connsiteY1-40" fmla="*/ 3524250 h 4673580"/>
              <a:gd name="connsiteX2-41" fmla="*/ 3505845 w 3559185"/>
              <a:gd name="connsiteY2-42" fmla="*/ 4673580 h 4673580"/>
              <a:gd name="connsiteX3-43" fmla="*/ 0 w 3559185"/>
              <a:gd name="connsiteY3-44" fmla="*/ 4673580 h 4673580"/>
              <a:gd name="connsiteX4-45" fmla="*/ 0 w 3559185"/>
              <a:gd name="connsiteY4-46" fmla="*/ 0 h 4673580"/>
              <a:gd name="connsiteX5-47" fmla="*/ 3505845 w 3559185"/>
              <a:gd name="connsiteY5-48" fmla="*/ 0 h 4673580"/>
              <a:gd name="connsiteX6-49" fmla="*/ 3486795 w 3559185"/>
              <a:gd name="connsiteY6-50" fmla="*/ 2247900 h 4673580"/>
              <a:gd name="connsiteX7-51" fmla="*/ 3559185 w 3559185"/>
              <a:gd name="connsiteY7-52" fmla="*/ 2948940 h 4673580"/>
              <a:gd name="connsiteX0-53" fmla="*/ 3467745 w 3505845"/>
              <a:gd name="connsiteY0-54" fmla="*/ 2857500 h 4673580"/>
              <a:gd name="connsiteX1-55" fmla="*/ 3486795 w 3505845"/>
              <a:gd name="connsiteY1-56" fmla="*/ 3524250 h 4673580"/>
              <a:gd name="connsiteX2-57" fmla="*/ 3505845 w 3505845"/>
              <a:gd name="connsiteY2-58" fmla="*/ 4673580 h 4673580"/>
              <a:gd name="connsiteX3-59" fmla="*/ 0 w 3505845"/>
              <a:gd name="connsiteY3-60" fmla="*/ 4673580 h 4673580"/>
              <a:gd name="connsiteX4-61" fmla="*/ 0 w 3505845"/>
              <a:gd name="connsiteY4-62" fmla="*/ 0 h 4673580"/>
              <a:gd name="connsiteX5-63" fmla="*/ 3505845 w 3505845"/>
              <a:gd name="connsiteY5-64" fmla="*/ 0 h 4673580"/>
              <a:gd name="connsiteX6-65" fmla="*/ 3486795 w 3505845"/>
              <a:gd name="connsiteY6-66" fmla="*/ 2247900 h 4673580"/>
              <a:gd name="connsiteX0-67" fmla="*/ 3486795 w 3505845"/>
              <a:gd name="connsiteY0-68" fmla="*/ 3524250 h 4673580"/>
              <a:gd name="connsiteX1-69" fmla="*/ 3505845 w 3505845"/>
              <a:gd name="connsiteY1-70" fmla="*/ 4673580 h 4673580"/>
              <a:gd name="connsiteX2-71" fmla="*/ 0 w 3505845"/>
              <a:gd name="connsiteY2-72" fmla="*/ 4673580 h 4673580"/>
              <a:gd name="connsiteX3-73" fmla="*/ 0 w 3505845"/>
              <a:gd name="connsiteY3-74" fmla="*/ 0 h 4673580"/>
              <a:gd name="connsiteX4-75" fmla="*/ 3505845 w 3505845"/>
              <a:gd name="connsiteY4-76" fmla="*/ 0 h 4673580"/>
              <a:gd name="connsiteX5-77" fmla="*/ 3486795 w 3505845"/>
              <a:gd name="connsiteY5-78" fmla="*/ 2247900 h 4673580"/>
              <a:gd name="connsiteX0-79" fmla="*/ 3515978 w 3515978"/>
              <a:gd name="connsiteY0-80" fmla="*/ 3524250 h 4673580"/>
              <a:gd name="connsiteX1-81" fmla="*/ 3505845 w 3515978"/>
              <a:gd name="connsiteY1-82" fmla="*/ 4673580 h 4673580"/>
              <a:gd name="connsiteX2-83" fmla="*/ 0 w 3515978"/>
              <a:gd name="connsiteY2-84" fmla="*/ 4673580 h 4673580"/>
              <a:gd name="connsiteX3-85" fmla="*/ 0 w 3515978"/>
              <a:gd name="connsiteY3-86" fmla="*/ 0 h 4673580"/>
              <a:gd name="connsiteX4-87" fmla="*/ 3505845 w 3515978"/>
              <a:gd name="connsiteY4-88" fmla="*/ 0 h 4673580"/>
              <a:gd name="connsiteX5-89" fmla="*/ 3486795 w 3515978"/>
              <a:gd name="connsiteY5-90" fmla="*/ 2247900 h 4673580"/>
              <a:gd name="connsiteX0-91" fmla="*/ 3506250 w 3506869"/>
              <a:gd name="connsiteY0-92" fmla="*/ 3524250 h 4673580"/>
              <a:gd name="connsiteX1-93" fmla="*/ 3505845 w 3506869"/>
              <a:gd name="connsiteY1-94" fmla="*/ 4673580 h 4673580"/>
              <a:gd name="connsiteX2-95" fmla="*/ 0 w 3506869"/>
              <a:gd name="connsiteY2-96" fmla="*/ 4673580 h 4673580"/>
              <a:gd name="connsiteX3-97" fmla="*/ 0 w 3506869"/>
              <a:gd name="connsiteY3-98" fmla="*/ 0 h 4673580"/>
              <a:gd name="connsiteX4-99" fmla="*/ 3505845 w 3506869"/>
              <a:gd name="connsiteY4-100" fmla="*/ 0 h 4673580"/>
              <a:gd name="connsiteX5-101" fmla="*/ 3486795 w 3506869"/>
              <a:gd name="connsiteY5-102" fmla="*/ 2247900 h 4673580"/>
              <a:gd name="connsiteX0-103" fmla="*/ 3506250 w 3506869"/>
              <a:gd name="connsiteY0-104" fmla="*/ 3524250 h 4673580"/>
              <a:gd name="connsiteX1-105" fmla="*/ 3505845 w 3506869"/>
              <a:gd name="connsiteY1-106" fmla="*/ 4673580 h 4673580"/>
              <a:gd name="connsiteX2-107" fmla="*/ 0 w 3506869"/>
              <a:gd name="connsiteY2-108" fmla="*/ 4673580 h 4673580"/>
              <a:gd name="connsiteX3-109" fmla="*/ 0 w 3506869"/>
              <a:gd name="connsiteY3-110" fmla="*/ 0 h 4673580"/>
              <a:gd name="connsiteX4-111" fmla="*/ 3505845 w 3506869"/>
              <a:gd name="connsiteY4-112" fmla="*/ 0 h 4673580"/>
              <a:gd name="connsiteX5-113" fmla="*/ 3496523 w 3506869"/>
              <a:gd name="connsiteY5-114" fmla="*/ 2247900 h 4673580"/>
              <a:gd name="connsiteX0-115" fmla="*/ 3506250 w 3525963"/>
              <a:gd name="connsiteY0-116" fmla="*/ 3524250 h 4673580"/>
              <a:gd name="connsiteX1-117" fmla="*/ 3505845 w 3525963"/>
              <a:gd name="connsiteY1-118" fmla="*/ 4673580 h 4673580"/>
              <a:gd name="connsiteX2-119" fmla="*/ 0 w 3525963"/>
              <a:gd name="connsiteY2-120" fmla="*/ 4673580 h 4673580"/>
              <a:gd name="connsiteX3-121" fmla="*/ 0 w 3525963"/>
              <a:gd name="connsiteY3-122" fmla="*/ 0 h 4673580"/>
              <a:gd name="connsiteX4-123" fmla="*/ 3505845 w 3525963"/>
              <a:gd name="connsiteY4-124" fmla="*/ 0 h 4673580"/>
              <a:gd name="connsiteX5-125" fmla="*/ 3525706 w 3525963"/>
              <a:gd name="connsiteY5-126" fmla="*/ 2257628 h 4673580"/>
              <a:gd name="connsiteX0-127" fmla="*/ 3506250 w 3516372"/>
              <a:gd name="connsiteY0-128" fmla="*/ 3524250 h 4673580"/>
              <a:gd name="connsiteX1-129" fmla="*/ 3505845 w 3516372"/>
              <a:gd name="connsiteY1-130" fmla="*/ 4673580 h 4673580"/>
              <a:gd name="connsiteX2-131" fmla="*/ 0 w 3516372"/>
              <a:gd name="connsiteY2-132" fmla="*/ 4673580 h 4673580"/>
              <a:gd name="connsiteX3-133" fmla="*/ 0 w 3516372"/>
              <a:gd name="connsiteY3-134" fmla="*/ 0 h 4673580"/>
              <a:gd name="connsiteX4-135" fmla="*/ 3505845 w 3516372"/>
              <a:gd name="connsiteY4-136" fmla="*/ 0 h 4673580"/>
              <a:gd name="connsiteX5-137" fmla="*/ 3515978 w 3516372"/>
              <a:gd name="connsiteY5-138" fmla="*/ 2257628 h 4673580"/>
              <a:gd name="connsiteX0-139" fmla="*/ 3506250 w 3506869"/>
              <a:gd name="connsiteY0-140" fmla="*/ 3524250 h 4673580"/>
              <a:gd name="connsiteX1-141" fmla="*/ 3505845 w 3506869"/>
              <a:gd name="connsiteY1-142" fmla="*/ 4673580 h 4673580"/>
              <a:gd name="connsiteX2-143" fmla="*/ 0 w 3506869"/>
              <a:gd name="connsiteY2-144" fmla="*/ 4673580 h 4673580"/>
              <a:gd name="connsiteX3-145" fmla="*/ 0 w 3506869"/>
              <a:gd name="connsiteY3-146" fmla="*/ 0 h 4673580"/>
              <a:gd name="connsiteX4-147" fmla="*/ 3505845 w 3506869"/>
              <a:gd name="connsiteY4-148" fmla="*/ 0 h 4673580"/>
              <a:gd name="connsiteX5-149" fmla="*/ 3496523 w 3506869"/>
              <a:gd name="connsiteY5-150" fmla="*/ 2257628 h 4673580"/>
            </a:gdLst>
            <a:ahLst/>
            <a:cxnLst>
              <a:cxn ang="0">
                <a:pos x="connsiteX0-139" y="connsiteY0-140"/>
              </a:cxn>
              <a:cxn ang="0">
                <a:pos x="connsiteX1-141" y="connsiteY1-142"/>
              </a:cxn>
              <a:cxn ang="0">
                <a:pos x="connsiteX2-143" y="connsiteY2-144"/>
              </a:cxn>
              <a:cxn ang="0">
                <a:pos x="connsiteX3-145" y="connsiteY3-146"/>
              </a:cxn>
              <a:cxn ang="0">
                <a:pos x="connsiteX4-147" y="connsiteY4-148"/>
              </a:cxn>
              <a:cxn ang="0">
                <a:pos x="connsiteX5-149" y="connsiteY5-150"/>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80604020202020204" charset="0"/>
                <a:ea typeface="微软雅黑"/>
                <a:cs typeface="+mn-cs"/>
              </a:endParaRPr>
            </a:p>
          </p:txBody>
        </p:sp>
      </p:grpSp>
      <p:sp>
        <p:nvSpPr>
          <p:cNvPr id="6" name="文本框 5"/>
          <p:cNvSpPr txBox="1"/>
          <p:nvPr/>
        </p:nvSpPr>
        <p:spPr>
          <a:xfrm>
            <a:off x="4013281" y="3625604"/>
            <a:ext cx="2423733" cy="769441"/>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400" b="1" dirty="0">
                <a:solidFill>
                  <a:prstClr val="black"/>
                </a:solidFill>
                <a:latin typeface="Geometr415 Blk BT" panose="020B0802020204020303" pitchFamily="34" charset="0"/>
                <a:ea typeface="微软雅黑"/>
              </a:rPr>
              <a:t>实现设想</a:t>
            </a:r>
            <a:endParaRPr kumimoji="0" lang="zh-CN" altLang="en-US" sz="44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PART03</a:t>
            </a:r>
            <a:endParaRPr kumimoji="0" lang="zh-CN" altLang="en-US" sz="54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80604020202020204" charset="0"/>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defTabSz="-635" fontAlgn="auto">
                <a:lnSpc>
                  <a:spcPct val="100000"/>
                </a:lnSpc>
                <a:spcBef>
                  <a:spcPts val="0"/>
                </a:spcBef>
                <a:spcAft>
                  <a:spcPts val="0"/>
                </a:spcAft>
                <a:buClrTx/>
                <a:buSzTx/>
                <a:buFontTx/>
                <a:buNone/>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03</a:t>
              </a:r>
              <a:endParaRPr kumimoji="0" lang="zh-CN" altLang="en-US" sz="3600" b="0"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Geometr415 Blk BT" panose="020B0802020204020303" pitchFamily="34" charset="0"/>
                  <a:ea typeface="微软雅黑"/>
                  <a:cs typeface="+mn-cs"/>
                </a:rPr>
                <a:t>环境</a:t>
              </a:r>
            </a:p>
          </p:txBody>
        </p:sp>
      </p:grpSp>
      <p:sp>
        <p:nvSpPr>
          <p:cNvPr id="26" name="文本框 25"/>
          <p:cNvSpPr txBox="1"/>
          <p:nvPr/>
        </p:nvSpPr>
        <p:spPr>
          <a:xfrm>
            <a:off x="1385180" y="2190939"/>
            <a:ext cx="3829616" cy="916305"/>
          </a:xfrm>
          <a:prstGeom prst="rect">
            <a:avLst/>
          </a:prstGeom>
          <a:noFill/>
        </p:spPr>
        <p:txBody>
          <a:bodyPr wrap="square" rtlCol="0">
            <a:spAutoFit/>
          </a:bodyPr>
          <a:lstStyle/>
          <a:p>
            <a:r>
              <a:rPr lang="x-none" altLang="en-US" dirty="0"/>
              <a:t>系统环境：centos 7</a:t>
            </a:r>
            <a:endParaRPr lang="x-none" altLang="en-US" dirty="0"/>
          </a:p>
          <a:p>
            <a:r>
              <a:rPr lang="en-US" altLang="zh-CN" dirty="0"/>
              <a:t>Python</a:t>
            </a:r>
            <a:r>
              <a:rPr lang="zh-CN" altLang="en-US" dirty="0"/>
              <a:t>版本：</a:t>
            </a:r>
            <a:r>
              <a:rPr lang="en-US" altLang="zh-CN" dirty="0"/>
              <a:t>3.6.</a:t>
            </a:r>
            <a:r>
              <a:rPr lang="x-none" altLang="en-US" dirty="0"/>
              <a:t>1</a:t>
            </a:r>
            <a:r>
              <a:rPr lang="en-US" altLang="zh-CN" dirty="0"/>
              <a:t> 64 bit</a:t>
            </a:r>
            <a:endParaRPr lang="en-US" altLang="zh-CN" dirty="0"/>
          </a:p>
          <a:p>
            <a:endParaRPr lang="zh-CN" altLang="en-US" dirty="0"/>
          </a:p>
        </p:txBody>
      </p:sp>
    </p:spTree>
  </p:cSld>
  <p:clrMapOvr>
    <a:masterClrMapping/>
  </p:clrMapOvr>
  <p:transition spd="slow">
    <p:push dir="u"/>
  </p:transition>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1724</Words>
  <Application>Kingsoft Office WPP</Application>
  <PresentationFormat>宽屏</PresentationFormat>
  <Paragraphs>167</Paragraphs>
  <Slides>18</Slides>
  <Notes>27</Notes>
  <HiddenSlides>0</HiddenSlides>
  <MMClips>0</MMClips>
  <ScaleCrop>false</ScaleCrop>
  <HeadingPairs>
    <vt:vector size="4" baseType="variant">
      <vt:variant>
        <vt:lpstr>主题</vt:lpstr>
      </vt:variant>
      <vt:variant>
        <vt:i4>1</vt:i4>
      </vt:variant>
      <vt:variant>
        <vt:lpstr>幻灯片标题</vt:lpstr>
      </vt:variant>
      <vt:variant>
        <vt:i4>18</vt:i4>
      </vt:variant>
    </vt:vector>
  </HeadingPairs>
  <TitlesOfParts>
    <vt:vector size="19"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黑白</dc:title>
  <dc:creator>第一PPT模板网-WWW.1PPT.COM</dc:creator>
  <cp:keywords>第一PPT模板网-WWW.1PPT.COM</cp:keywords>
  <cp:lastModifiedBy>woneway</cp:lastModifiedBy>
  <cp:revision>144</cp:revision>
  <dcterms:created xsi:type="dcterms:W3CDTF">2018-04-03T04:22:21Z</dcterms:created>
  <dcterms:modified xsi:type="dcterms:W3CDTF">2018-04-03T04:22:21Z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2052-10.1.0.5672</vt:lpwstr>
  </property>
</Properties>
</file>